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https://mailbrew.com/
https://www.kickstarter.com/projects/iconfactory/project-tapestry
https://www.are.na/about
https://gemini.google/overview/daily-brief/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https://mailbrew.com/
https://www.kickstarter.com/projects/iconfactory/project-tapestry
https://www.are.na/about
https://reutersinstitute.politics.ox.ac.uk/digital-news-report/2026/dnr-executive-summary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https://mailbrew.com/
https://newsblur.com/faq
https://www.inoreader.com/pricing
https://feedly.com/market-intelligence/pricing
https://folo.is/download
https://usetapestry.com/
https://apps.apple.com/us/app/reeder/id6475002485
https://feeeed.nateparrott.com/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https://readwise.io/read
https://www.getmatter.com/patron
https://www.instapaper.com/docs/premium/overview
https://ktool.io/pricing
https://meco.app/
https://apps.apple.com/us/app/particle-personalized-news/id6683283775
https://gemini.google/overview/daily-brief/
https://support.claude.com/en/articles/13854387-schedule-recurring-tasks-in-claude-cowork
https://www.diabrowser.com/plans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https://www.instapaper.com/docs/premium/overview
https://ktool.io/pricing
https://readwise.io/read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https://gemini.google/overview/daily-brief/
https://support.claude.com/en/articles/13854387-schedule-recurring-tasks-in-claude-cowork
https://learn.chatgpt.com/use-cases
https://www.diabrowser.com/release-notes/1-19-0-tab-groups-and-proactive-suggestions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https://docs.x.com/x-api/getting-started/pricing
https://support.reddithelp.com/hc/en-us/articles/42728983564564-Responsible-Builder-Policy
https://learn.microsoft.com/en-us/linkedin/marketing/community-management/shares/posts-api
https://developers.google.com/youtube/v3/getting-started
https://support.substack.com/hc/en-us/articles/360038239391-Is-there-an-RSS-feed-for-my-publication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0160">
            <a:solidFill>
              <a:srgbClr val="C9C4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47104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20" kern="0" dirty="0">
                <a:solidFill>
                  <a:srgbClr val="74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CURATION STATION  /  MARKET LANDSCAPE  /  AUGUST 2026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reutersinstitute.politics.ox.ac.uk/digital-news-report/2026/dnr-executive-summar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mailbrew.com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paper.com/docs/premium/overview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particle.news/blog/particle-news-launches-android-app-bringing-fact-forward-personalized-news-to-more-users-worldwide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ahooinc.com/press/yahoo-announces-the-acquisition-of-artifact-the-news-discovery-platform-created-by-instagram-cofounders-kevin-systrom-and-mike-krieger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mailbrew.com/" TargetMode="External"/><Relationship Id="rId2" Type="http://schemas.openxmlformats.org/officeDocument/2006/relationships/hyperlink" Target="https://usetapestry.com/" TargetMode="External"/><Relationship Id="rId3" Type="http://schemas.openxmlformats.org/officeDocument/2006/relationships/hyperlink" Target="https://www.kickstarter.com/projects/iconfactory/project-tapestry" TargetMode="External"/><Relationship Id="rId4" Type="http://schemas.openxmlformats.org/officeDocument/2006/relationships/hyperlink" Target="https://apps.apple.com/us/app/reeder/id6475002485" TargetMode="External"/><Relationship Id="rId5" Type="http://schemas.openxmlformats.org/officeDocument/2006/relationships/hyperlink" Target="https://feeeed.nateparrott.com/" TargetMode="External"/><Relationship Id="rId6" Type="http://schemas.openxmlformats.org/officeDocument/2006/relationships/hyperlink" Target="https://www.inoreader.com/pricing" TargetMode="External"/><Relationship Id="rId7" Type="http://schemas.openxmlformats.org/officeDocument/2006/relationships/hyperlink" Target="https://feedly.com/market-intelligence/pricing" TargetMode="External"/><Relationship Id="rId8" Type="http://schemas.openxmlformats.org/officeDocument/2006/relationships/hyperlink" Target="https://newsblur.com/faq" TargetMode="External"/><Relationship Id="rId9" Type="http://schemas.openxmlformats.org/officeDocument/2006/relationships/hyperlink" Target="https://readwise.io/read" TargetMode="External"/><Relationship Id="rId10" Type="http://schemas.openxmlformats.org/officeDocument/2006/relationships/hyperlink" Target="https://www.getmatter.com/patron" TargetMode="External"/><Relationship Id="rId11" Type="http://schemas.openxmlformats.org/officeDocument/2006/relationships/hyperlink" Target="https://www.instapaper.com/docs/premium/overview" TargetMode="External"/><Relationship Id="rId12" Type="http://schemas.openxmlformats.org/officeDocument/2006/relationships/hyperlink" Target="https://ktool.io/pricing" TargetMode="External"/><Relationship Id="rId13" Type="http://schemas.openxmlformats.org/officeDocument/2006/relationships/hyperlink" Target="https://meco.app/" TargetMode="External"/><Relationship Id="rId14" Type="http://schemas.openxmlformats.org/officeDocument/2006/relationships/hyperlink" Target="https://docs.meco.app/docs/meco-pro/overview" TargetMode="External"/><Relationship Id="rId15" Type="http://schemas.openxmlformats.org/officeDocument/2006/relationships/hyperlink" Target="https://particle.news/blog/particle-news-launches-android-app-bringing-fact-forward-personalized-news-to-more-users-worldwide" TargetMode="External"/><Relationship Id="rId16" Type="http://schemas.openxmlformats.org/officeDocument/2006/relationships/hyperlink" Target="https://apps.apple.com/us/app/particle-personalized-news/id6683283775" TargetMode="External"/><Relationship Id="rId17" Type="http://schemas.openxmlformats.org/officeDocument/2006/relationships/hyperlink" Target="https://ground.news/rating-system" TargetMode="External"/><Relationship Id="rId18" Type="http://schemas.openxmlformats.org/officeDocument/2006/relationships/hyperlink" Target="https://www.are.na/about" TargetMode="External"/><Relationship Id="rId19" Type="http://schemas.openxmlformats.org/officeDocument/2006/relationships/hyperlink" Target="https://sublime.app/pricing" TargetMode="External"/><Relationship Id="rId20" Type="http://schemas.openxmlformats.org/officeDocument/2006/relationships/hyperlink" Target="https://apps.apple.com/us/app/cosmos-search-discover/id1577975475" TargetMode="External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reutersinstitute.politics.ox.ac.uk/digital-news-report/2026/dnr-executive-summary" TargetMode="External"/><Relationship Id="rId2" Type="http://schemas.openxmlformats.org/officeDocument/2006/relationships/hyperlink" Target="https://gemini.google/overview/daily-brief/" TargetMode="External"/><Relationship Id="rId3" Type="http://schemas.openxmlformats.org/officeDocument/2006/relationships/hyperlink" Target="https://support.google.com/gemini/answer/16316416" TargetMode="External"/><Relationship Id="rId4" Type="http://schemas.openxmlformats.org/officeDocument/2006/relationships/hyperlink" Target="https://support.claude.com/en/articles/13854387-schedule-recurring-tasks-in-claude-cowork" TargetMode="External"/><Relationship Id="rId5" Type="http://schemas.openxmlformats.org/officeDocument/2006/relationships/hyperlink" Target="https://learn.chatgpt.com/use-cases" TargetMode="External"/><Relationship Id="rId6" Type="http://schemas.openxmlformats.org/officeDocument/2006/relationships/hyperlink" Target="https://www.diabrowser.com/release-notes/1-19-0-tab-groups-and-proactive-suggestions" TargetMode="External"/><Relationship Id="rId7" Type="http://schemas.openxmlformats.org/officeDocument/2006/relationships/hyperlink" Target="https://www.diabrowser.com/plans" TargetMode="External"/><Relationship Id="rId8" Type="http://schemas.openxmlformats.org/officeDocument/2006/relationships/hyperlink" Target="https://www.yahooinc.com/press/yahoo-announces-the-acquisition-of-artifact-the-news-discovery-platform-created-by-instagram-cofounders-kevin-systrom-and-mike-krieger" TargetMode="External"/><Relationship Id="rId9" Type="http://schemas.openxmlformats.org/officeDocument/2006/relationships/hyperlink" Target="https://blog.mozilla.org/en/mozilla/building-whats-next/" TargetMode="External"/><Relationship Id="rId10" Type="http://schemas.openxmlformats.org/officeDocument/2006/relationships/hyperlink" Target="https://elevenlabs.io/blog/omnivore-joins-elevenlabs" TargetMode="External"/><Relationship Id="rId11" Type="http://schemas.openxmlformats.org/officeDocument/2006/relationships/hyperlink" Target="https://docs.x.com/x-api/getting-started/pricing" TargetMode="External"/><Relationship Id="rId12" Type="http://schemas.openxmlformats.org/officeDocument/2006/relationships/hyperlink" Target="https://support.reddithelp.com/hc/en-us/articles/42728983564564-Responsible-Builder-Policy" TargetMode="External"/><Relationship Id="rId13" Type="http://schemas.openxmlformats.org/officeDocument/2006/relationships/hyperlink" Target="https://learn.microsoft.com/en-us/linkedin/marketing/community-management/shares/posts-api" TargetMode="External"/><Relationship Id="rId14" Type="http://schemas.openxmlformats.org/officeDocument/2006/relationships/hyperlink" Target="https://developers.google.com/youtube/v3/getting-started" TargetMode="External"/><Relationship Id="rId15" Type="http://schemas.openxmlformats.org/officeDocument/2006/relationships/hyperlink" Target="https://support.substack.com/hc/en-us/articles/360038239391-Is-there-an-RSS-feed-for-my-publication" TargetMode="External"/><Relationship Id="rId16" Type="http://schemas.openxmlformats.org/officeDocument/2006/relationships/hyperlink" Target="https://apps.apple.com/us/app/apple-news/id1066498020" TargetMode="External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13232"/>
            <a:ext cx="10972800" cy="0"/>
          </a:xfrm>
          <a:prstGeom prst="line">
            <a:avLst/>
          </a:prstGeom>
          <a:noFill/>
          <a:ln w="8890">
            <a:solidFill>
              <a:srgbClr val="4549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8890">
            <a:solidFill>
              <a:srgbClr val="4549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249424"/>
            <a:ext cx="10972800" cy="0"/>
          </a:xfrm>
          <a:prstGeom prst="line">
            <a:avLst/>
          </a:prstGeom>
          <a:noFill/>
          <a:ln w="8890">
            <a:solidFill>
              <a:srgbClr val="4549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017520"/>
            <a:ext cx="10972800" cy="0"/>
          </a:xfrm>
          <a:prstGeom prst="line">
            <a:avLst/>
          </a:prstGeom>
          <a:noFill/>
          <a:ln w="27940">
            <a:solidFill>
              <a:srgbClr val="E05A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3785616"/>
            <a:ext cx="10972800" cy="0"/>
          </a:xfrm>
          <a:prstGeom prst="line">
            <a:avLst/>
          </a:prstGeom>
          <a:noFill/>
          <a:ln w="8890">
            <a:solidFill>
              <a:srgbClr val="4549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4553712"/>
            <a:ext cx="10972800" cy="0"/>
          </a:xfrm>
          <a:prstGeom prst="line">
            <a:avLst/>
          </a:prstGeom>
          <a:noFill/>
          <a:ln w="8890">
            <a:solidFill>
              <a:srgbClr val="4549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5321808"/>
            <a:ext cx="10972800" cy="0"/>
          </a:xfrm>
          <a:prstGeom prst="line">
            <a:avLst/>
          </a:prstGeom>
          <a:noFill/>
          <a:ln w="8890">
            <a:solidFill>
              <a:srgbClr val="4549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94360"/>
            <a:ext cx="0" cy="5394960"/>
          </a:xfrm>
          <a:prstGeom prst="line">
            <a:avLst/>
          </a:prstGeom>
          <a:noFill/>
          <a:ln w="7620">
            <a:solidFill>
              <a:srgbClr val="3438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594360"/>
            <a:ext cx="0" cy="5394960"/>
          </a:xfrm>
          <a:prstGeom prst="line">
            <a:avLst/>
          </a:prstGeom>
          <a:noFill/>
          <a:ln w="7620">
            <a:solidFill>
              <a:srgbClr val="3438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594360"/>
            <a:ext cx="0" cy="5394960"/>
          </a:xfrm>
          <a:prstGeom prst="line">
            <a:avLst/>
          </a:prstGeom>
          <a:noFill/>
          <a:ln w="7620">
            <a:solidFill>
              <a:srgbClr val="3438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6840" y="594360"/>
            <a:ext cx="0" cy="5394960"/>
          </a:xfrm>
          <a:prstGeom prst="line">
            <a:avLst/>
          </a:prstGeom>
          <a:noFill/>
          <a:ln w="7620">
            <a:solidFill>
              <a:srgbClr val="3438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50040" y="594360"/>
            <a:ext cx="0" cy="5394960"/>
          </a:xfrm>
          <a:prstGeom prst="line">
            <a:avLst/>
          </a:prstGeom>
          <a:noFill/>
          <a:ln w="7620">
            <a:solidFill>
              <a:srgbClr val="3438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502920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53212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LANDSCAPE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078992"/>
            <a:ext cx="6629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dirty="0">
                <a:solidFill>
                  <a:srgbClr val="F3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500" dirty="0"/>
          </a:p>
          <a:p>
            <a:pPr algn="l" indent="0" marL="0">
              <a:buNone/>
            </a:pPr>
            <a:r>
              <a:rPr lang="en-US" sz="3500" dirty="0">
                <a:solidFill>
                  <a:srgbClr val="F3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INTENTIONAL</a:t>
            </a:r>
            <a:endParaRPr lang="en-US" sz="3500" dirty="0"/>
          </a:p>
          <a:p>
            <a:pPr algn="l" indent="0" marL="0">
              <a:buNone/>
            </a:pPr>
            <a:r>
              <a:rPr lang="en-US" sz="3500" dirty="0">
                <a:solidFill>
                  <a:srgbClr val="F3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</a:t>
            </a:r>
            <a:endParaRPr lang="en-US" sz="35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4096512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D3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market map for a user-governed digital diet,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D3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editor, and finite daily edition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26680" y="1005840"/>
            <a:ext cx="3401568" cy="4343400"/>
          </a:xfrm>
          <a:prstGeom prst="roundRect">
            <a:avLst>
              <a:gd name="adj" fmla="val 2151"/>
            </a:avLst>
          </a:prstGeom>
          <a:solidFill>
            <a:srgbClr val="F3F0E8"/>
          </a:solidFill>
          <a:ln w="12700">
            <a:solidFill>
              <a:srgbClr val="F3F0E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28432" y="129844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EDITION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157276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7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47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companies and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families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28432" y="2487168"/>
            <a:ext cx="2743200" cy="0"/>
          </a:xfrm>
          <a:prstGeom prst="line">
            <a:avLst/>
          </a:prstGeom>
          <a:noFill/>
          <a:ln w="13970">
            <a:solidFill>
              <a:srgbClr val="C9C4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28432" y="27066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2999232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decides what deserves access to your attention?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028432" y="48280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current to 23 Aug 2026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62910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80" kern="0" dirty="0">
                <a:solidFill>
                  <a:srgbClr val="F3F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CURATION STATION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category is real. The exact product is still unclaimed.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34440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has validated every ingredient separately — but no durable consumer product yet combines them into one explicit attention-allocation system.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57400"/>
            <a:ext cx="73152" cy="3429000"/>
          </a:xfrm>
          <a:prstGeom prst="rect">
            <a:avLst/>
          </a:prstGeom>
          <a:solidFill>
            <a:srgbClr val="437A52"/>
          </a:solidFill>
          <a:ln w="12700">
            <a:solidFill>
              <a:srgbClr val="437A5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221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49631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demand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907792"/>
            <a:ext cx="31363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 proves people want useful content without entering feeds. Tapestry proves people will crowdfund algorithm-free aggregation. Are.na proves an aligned, member-funded information environment can sustain meaningful revenue.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4256" y="205740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2057400"/>
            <a:ext cx="73152" cy="3429000"/>
          </a:xfrm>
          <a:prstGeom prst="rect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2221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49631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compression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907792"/>
            <a:ext cx="31363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readers own ingestion, filters and reading. AI assistants now own proactive briefs, user context and natural-language goals. The opportunity is narrower — and more specific — than “AI news.”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74152" y="205740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4152" y="2057400"/>
            <a:ext cx="73152" cy="3429000"/>
          </a:xfrm>
          <a:prstGeom prst="rect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221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49631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remaining wedge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907792"/>
            <a:ext cx="31363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source-transparent AI editor constrained by a user-written editorial constitution, a hard time/content budget, a finite stop state, and trusted-human recommendations.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" y="57150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242725"/>
          </a:solidFill>
          <a:ln w="12700">
            <a:solidFill>
              <a:srgbClr val="24272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861304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  →  Build an attention allocator, not another feed and not a generic daily brief.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ANATOMY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proposed product is a control system, not a reader.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1463040" cy="2331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2374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154680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 · newsletters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 · saved links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15184" y="1874520"/>
            <a:ext cx="1463040" cy="2331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1488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52374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CONSTITUTION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3154680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 · values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rules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69664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1463040" cy="2331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18304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718304" y="252374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3154680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· mix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 · limits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28816" y="1874520"/>
            <a:ext cx="1463040" cy="2331720"/>
          </a:xfrm>
          <a:prstGeom prst="roundRect">
            <a:avLst>
              <a:gd name="adj" fmla="val 7500"/>
            </a:avLst>
          </a:prstGeom>
          <a:solidFill>
            <a:srgbClr val="242725"/>
          </a:solidFill>
          <a:ln w="10160">
            <a:solidFill>
              <a:srgbClr val="2427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6C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52374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EDITOR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154680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9D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· dedupe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D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· sequence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083296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485632" y="1874520"/>
            <a:ext cx="1463040" cy="2331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31936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631936" y="252374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EDITION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31936" y="3154680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8–15 items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it ends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040112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442448" y="1874520"/>
            <a:ext cx="1463040" cy="2331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88752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0588752" y="252374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SIGNAL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588752" y="3154680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Friends inject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high-weight candidates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47731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products cluster around one or two boxes.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5266944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concept’s differentiation comes from making the constitution and budget first-class — then turning the result into a bounded object rather than another stream.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SIGNAL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signals say “intentional information” is a real paid niche.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" y="14173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417320"/>
            <a:ext cx="2606040" cy="100584"/>
          </a:xfrm>
          <a:prstGeom prst="rect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60K+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706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 users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7.5M+ digests delivered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65576" y="14173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417320"/>
            <a:ext cx="2606040" cy="100584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168" y="1874520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2E5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$177.8K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7706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Tapestry Kickstarter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3,369 backers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18504" y="14173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8504" y="1417320"/>
            <a:ext cx="2606040" cy="100584"/>
          </a:xfrm>
          <a:prstGeom prst="rect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1874520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187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20,516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7706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Are.na paying members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$125,085 monthly recurring revenue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71432" y="141732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1432" y="1417320"/>
            <a:ext cx="2606040" cy="100584"/>
          </a:xfrm>
          <a:prstGeom prst="rect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36024" y="1874520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34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336024" y="27706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sometimes/often avoid news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from 29% in 2017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" y="4983480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ECD8AF"/>
          </a:solidFill>
          <a:ln w="12700">
            <a:solidFill>
              <a:srgbClr val="ECD8A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1937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5157216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stronger evidence for a $5–12/month power-user market than for a mass-market social platform. The demand is “help me remain informed without feeling captured.”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58368" y="608076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 </a:t>
            </a:r>
            <a:pPr indent="0" marL="0">
              <a:buNone/>
            </a:pPr>
            <a:r>
              <a:rPr lang="en-US" sz="650" u="sng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Mailbrew · Kickstarter · Are.na · Reuters Institute DNR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ARCHITECTURE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is six overlapping categories, not one.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" y="1417320"/>
            <a:ext cx="342900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417320"/>
            <a:ext cx="82296" cy="1938528"/>
          </a:xfrm>
          <a:prstGeom prst="rect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15819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DIGEST-FIRST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197510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Mailbrew · NewsBlur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Meco · newsletter digests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3816" y="2715768"/>
            <a:ext cx="278892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89864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condensation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79976" y="1417320"/>
            <a:ext cx="342900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9976" y="1417320"/>
            <a:ext cx="82296" cy="193852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1144" y="15819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CONTROL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197510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Tapestry · Reeder · Feeeed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Inoreader · Folo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81144" y="2715768"/>
            <a:ext cx="278892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81144" y="289864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the inputs and order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47304" y="1417320"/>
            <a:ext cx="342900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1417320"/>
            <a:ext cx="82296" cy="1938528"/>
          </a:xfrm>
          <a:prstGeom prst="rect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48472" y="15819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OS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197510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Readwise Reader · Matter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Instapaper · KTool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348472" y="2715768"/>
            <a:ext cx="278892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48472" y="289864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Capture, consume, retain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" y="3657600"/>
            <a:ext cx="342900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3657600"/>
            <a:ext cx="82296" cy="1938528"/>
          </a:xfrm>
          <a:prstGeom prst="rect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" y="38221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NEWS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" y="421538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Particle · Ground News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News · Flipboard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13816" y="4956048"/>
            <a:ext cx="278892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" y="513892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and personalize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79976" y="3657600"/>
            <a:ext cx="342900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9976" y="3657600"/>
            <a:ext cx="82296" cy="1938528"/>
          </a:xfrm>
          <a:prstGeom prst="rect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81144" y="38221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581144" y="421538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· Claude · ChatGPT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 · Perplexity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581144" y="4956048"/>
            <a:ext cx="278892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81144" y="513892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goals and act proactively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47304" y="3657600"/>
            <a:ext cx="342900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7304" y="3657600"/>
            <a:ext cx="82296" cy="1938528"/>
          </a:xfrm>
          <a:prstGeom prst="rect">
            <a:avLst/>
          </a:prstGeom>
          <a:solidFill>
            <a:srgbClr val="437A52"/>
          </a:solidFill>
          <a:ln w="12700">
            <a:solidFill>
              <a:srgbClr val="437A52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48472" y="38221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DISCOVERY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8348472" y="421538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Are.na · Sublime · Cosmos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348472" y="4956048"/>
            <a:ext cx="278892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48472" y="513892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Taste, people, serendipity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21792" y="6007608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product sits at the intersection of all six — which creates both differentiation and scope risk.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MAP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strongest threat is no longer another RSS startup.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70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= ability to satisfy the same job with existing distribution, context, or habit.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1307592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PRODUCTS</a:t>
            </a:r>
            <a:endParaRPr lang="en-US" sz="68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130759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68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30759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2Y</a:t>
            </a:r>
            <a:endParaRPr lang="en-US" sz="68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30759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640080" y="1609344"/>
            <a:ext cx="1092708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17556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Daily Brief · Claude scheduled tasks · ChatGPT daily briefs · Dia Morning Brief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223760" y="1837944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9772" y="1837944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15784" y="1837944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11796" y="1837944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07808" y="1837944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837944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1292" y="1837944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47304" y="1837944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3316" y="1837944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1837944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50224" y="1728216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context + habit + proactive delivery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640080" y="2276856"/>
            <a:ext cx="10927080" cy="603504"/>
          </a:xfrm>
          <a:prstGeom prst="roundRect">
            <a:avLst>
              <a:gd name="adj" fmla="val 4545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2450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OS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212848" y="242316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Readwise Reader · Matter · Instapaper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223760" y="2505456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9772" y="2505456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15784" y="2505456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1796" y="2505456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7808" y="2505456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2505456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51292" y="2505456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47304" y="2505456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43316" y="2505456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9328" y="2505456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50224" y="239572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capture and deep-reading workflow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640080" y="2944368"/>
            <a:ext cx="1092708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31181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Digest tools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212848" y="309067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 · NewsBlur · Meco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7223760" y="3172968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9772" y="3172968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5784" y="3172968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11796" y="3172968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07808" y="3172968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55280" y="3172968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51292" y="3172968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47304" y="3172968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43316" y="3172968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39328" y="3172968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50224" y="3063240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finite cadence and source aggregation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640080" y="3611880"/>
            <a:ext cx="10927080" cy="603504"/>
          </a:xfrm>
          <a:prstGeom prst="roundRect">
            <a:avLst>
              <a:gd name="adj" fmla="val 4545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9808" y="37856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control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2212848" y="375818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Inoreader · Tapestry · Reeder · Folo · Feeeed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7223760" y="3840480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9772" y="3840480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15784" y="3840480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1796" y="3840480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07808" y="3840480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55280" y="3840480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51292" y="3840480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47304" y="3840480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43316" y="3840480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39328" y="3840480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650224" y="373075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source choice, rules and chronology</a:t>
            </a:r>
            <a:endParaRPr lang="en-US" sz="810" dirty="0"/>
          </a:p>
        </p:txBody>
      </p:sp>
      <p:sp>
        <p:nvSpPr>
          <p:cNvPr id="66" name="Shape 64"/>
          <p:cNvSpPr/>
          <p:nvPr/>
        </p:nvSpPr>
        <p:spPr>
          <a:xfrm>
            <a:off x="640080" y="4279392"/>
            <a:ext cx="1092708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49808" y="44531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news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212848" y="442569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 · Ground News · Apple News</a:t>
            </a:r>
            <a:endParaRPr lang="en-US" sz="840" dirty="0"/>
          </a:p>
        </p:txBody>
      </p:sp>
      <p:sp>
        <p:nvSpPr>
          <p:cNvPr id="69" name="Shape 67"/>
          <p:cNvSpPr/>
          <p:nvPr/>
        </p:nvSpPr>
        <p:spPr>
          <a:xfrm>
            <a:off x="7223760" y="4507992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19772" y="4507992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15784" y="4507992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11796" y="4507992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07808" y="4507992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55280" y="4507992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51292" y="4507992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47304" y="4507992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43316" y="4507992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39328" y="4507992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650224" y="4398264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packaged news and publisher relationships</a:t>
            </a:r>
            <a:endParaRPr lang="en-US" sz="810" dirty="0"/>
          </a:p>
        </p:txBody>
      </p:sp>
      <p:sp>
        <p:nvSpPr>
          <p:cNvPr id="80" name="Shape 78"/>
          <p:cNvSpPr/>
          <p:nvPr/>
        </p:nvSpPr>
        <p:spPr>
          <a:xfrm>
            <a:off x="640080" y="4946904"/>
            <a:ext cx="10927080" cy="603504"/>
          </a:xfrm>
          <a:prstGeom prst="roundRect">
            <a:avLst>
              <a:gd name="adj" fmla="val 4545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49808" y="5120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discovery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2212848" y="50932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Are.na · Sublime · Cosmos</a:t>
            </a:r>
            <a:endParaRPr lang="en-US" sz="840" dirty="0"/>
          </a:p>
        </p:txBody>
      </p:sp>
      <p:sp>
        <p:nvSpPr>
          <p:cNvPr id="83" name="Shape 81"/>
          <p:cNvSpPr/>
          <p:nvPr/>
        </p:nvSpPr>
        <p:spPr>
          <a:xfrm>
            <a:off x="7223760" y="5175504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19772" y="5175504"/>
            <a:ext cx="73152" cy="7315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15784" y="5175504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11796" y="5175504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607808" y="5175504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955280" y="5175504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051292" y="5175504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47304" y="5175504"/>
            <a:ext cx="73152" cy="7315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43316" y="5175504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39328" y="5175504"/>
            <a:ext cx="73152" cy="73152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650224" y="5065776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taste networks and social serendipity</a:t>
            </a:r>
            <a:endParaRPr lang="en-US" sz="810" dirty="0"/>
          </a:p>
        </p:txBody>
      </p:sp>
      <p:sp>
        <p:nvSpPr>
          <p:cNvPr id="94" name="Shape 92"/>
          <p:cNvSpPr/>
          <p:nvPr/>
        </p:nvSpPr>
        <p:spPr>
          <a:xfrm>
            <a:off x="640080" y="5833872"/>
            <a:ext cx="10927080" cy="393192"/>
          </a:xfrm>
          <a:prstGeom prst="roundRect">
            <a:avLst>
              <a:gd name="adj" fmla="val 13953"/>
            </a:avLst>
          </a:prstGeom>
          <a:solidFill>
            <a:srgbClr val="E9C4BF"/>
          </a:solidFill>
          <a:ln w="12700">
            <a:solidFill>
              <a:srgbClr val="E9C4BF">
                <a:alpha val="0"/>
              </a:srgbClr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04672" y="5943600"/>
            <a:ext cx="10588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implication: source governance + bounded consumption must be the product, because “personalized morning brief” is becoming a platform feature.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UNIVERSE · 1 OF 2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and near-direct competitors: digest + feed control.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25296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670" dirty="0"/>
          </a:p>
        </p:txBody>
      </p:sp>
      <p:sp>
        <p:nvSpPr>
          <p:cNvPr id="5" name="Text 3"/>
          <p:cNvSpPr txBox="1"/>
          <p:nvPr/>
        </p:nvSpPr>
        <p:spPr>
          <a:xfrm>
            <a:off x="1984248" y="122529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JOB</a:t>
            </a:r>
            <a:endParaRPr lang="en-US" sz="670" dirty="0"/>
          </a:p>
        </p:txBody>
      </p:sp>
      <p:sp>
        <p:nvSpPr>
          <p:cNvPr id="6" name="Text 4"/>
          <p:cNvSpPr txBox="1"/>
          <p:nvPr/>
        </p:nvSpPr>
        <p:spPr>
          <a:xfrm>
            <a:off x="3995928" y="1225296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670" dirty="0"/>
          </a:p>
        </p:txBody>
      </p:sp>
      <p:sp>
        <p:nvSpPr>
          <p:cNvPr id="7" name="Text 5"/>
          <p:cNvSpPr txBox="1"/>
          <p:nvPr/>
        </p:nvSpPr>
        <p:spPr>
          <a:xfrm>
            <a:off x="6967728" y="1225296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OWNS</a:t>
            </a:r>
            <a:endParaRPr lang="en-US" sz="670" dirty="0"/>
          </a:p>
        </p:txBody>
      </p:sp>
      <p:sp>
        <p:nvSpPr>
          <p:cNvPr id="8" name="Text 6"/>
          <p:cNvSpPr txBox="1"/>
          <p:nvPr/>
        </p:nvSpPr>
        <p:spPr>
          <a:xfrm>
            <a:off x="10122408" y="122529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SIGNAL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585216" y="1536192"/>
            <a:ext cx="1056132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6459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16459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email digest</a:t>
            </a:r>
            <a:endParaRPr lang="en-US" sz="780" dirty="0"/>
          </a:p>
        </p:txBody>
      </p:sp>
      <p:sp>
        <p:nvSpPr>
          <p:cNvPr id="12" name="Text 10"/>
          <p:cNvSpPr txBox="1"/>
          <p:nvPr/>
        </p:nvSpPr>
        <p:spPr>
          <a:xfrm>
            <a:off x="3995928" y="164592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RSS, newsletters, YouTube, web sources</a:t>
            </a:r>
            <a:endParaRPr lang="en-US" sz="780" dirty="0"/>
          </a:p>
        </p:txBody>
      </p:sp>
      <p:sp>
        <p:nvSpPr>
          <p:cNvPr id="13" name="Text 11"/>
          <p:cNvSpPr txBox="1"/>
          <p:nvPr/>
        </p:nvSpPr>
        <p:spPr>
          <a:xfrm>
            <a:off x="6967728" y="16459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cadence; strong demand proof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0122408" y="164592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$59/yr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85216" y="2093976"/>
            <a:ext cx="10561320" cy="493776"/>
          </a:xfrm>
          <a:prstGeom prst="roundRect">
            <a:avLst>
              <a:gd name="adj" fmla="val 5556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203704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NewsBlur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1984248" y="220370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Trainable RSS + daily briefing</a:t>
            </a:r>
            <a:endParaRPr lang="en-US" sz="780" dirty="0"/>
          </a:p>
        </p:txBody>
      </p:sp>
      <p:sp>
        <p:nvSpPr>
          <p:cNvPr id="18" name="Text 16"/>
          <p:cNvSpPr txBox="1"/>
          <p:nvPr/>
        </p:nvSpPr>
        <p:spPr>
          <a:xfrm>
            <a:off x="3995928" y="220370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RSS, web feeds, newsletters</a:t>
            </a:r>
            <a:endParaRPr lang="en-US" sz="78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220370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training; briefing; clustering</a:t>
            </a:r>
            <a:endParaRPr lang="en-US" sz="780" dirty="0"/>
          </a:p>
        </p:txBody>
      </p:sp>
      <p:sp>
        <p:nvSpPr>
          <p:cNvPr id="20" name="Text 18"/>
          <p:cNvSpPr txBox="1"/>
          <p:nvPr/>
        </p:nvSpPr>
        <p:spPr>
          <a:xfrm>
            <a:off x="10122408" y="220370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$36–99/yr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85216" y="2651760"/>
            <a:ext cx="1056132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276148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Inoreader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1984248" y="276148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Power-user monitoring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3995928" y="276148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RSS, web, newsletters, social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276148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filters, digests, AI reports</a:t>
            </a:r>
            <a:endParaRPr lang="en-US" sz="780" dirty="0"/>
          </a:p>
        </p:txBody>
      </p:sp>
      <p:sp>
        <p:nvSpPr>
          <p:cNvPr id="26" name="Text 24"/>
          <p:cNvSpPr txBox="1"/>
          <p:nvPr/>
        </p:nvSpPr>
        <p:spPr>
          <a:xfrm>
            <a:off x="10122408" y="276148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$90/yr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85216" y="3209544"/>
            <a:ext cx="10561320" cy="493776"/>
          </a:xfrm>
          <a:prstGeom prst="roundRect">
            <a:avLst>
              <a:gd name="adj" fmla="val 5556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31927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Feedly</a:t>
            </a:r>
            <a:endParaRPr lang="en-US" sz="880" dirty="0"/>
          </a:p>
        </p:txBody>
      </p:sp>
      <p:sp>
        <p:nvSpPr>
          <p:cNvPr id="29" name="Text 27"/>
          <p:cNvSpPr txBox="1"/>
          <p:nvPr/>
        </p:nvSpPr>
        <p:spPr>
          <a:xfrm>
            <a:off x="1984248" y="331927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monitoring / intelligence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3995928" y="331927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and publisher ecosystem</a:t>
            </a:r>
            <a:endParaRPr lang="en-US" sz="78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331927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AI feeds; B2B depth</a:t>
            </a:r>
            <a:endParaRPr lang="en-US" sz="780" dirty="0"/>
          </a:p>
        </p:txBody>
      </p:sp>
      <p:sp>
        <p:nvSpPr>
          <p:cNvPr id="32" name="Text 30"/>
          <p:cNvSpPr txBox="1"/>
          <p:nvPr/>
        </p:nvSpPr>
        <p:spPr>
          <a:xfrm>
            <a:off x="10122408" y="331927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$1,600+/mo B2B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585216" y="3767328"/>
            <a:ext cx="1056132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387705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Folo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1984248" y="387705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RSS reader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3995928" y="387705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 + broad content connectors</a:t>
            </a:r>
            <a:endParaRPr lang="en-US" sz="780" dirty="0"/>
          </a:p>
        </p:txBody>
      </p:sp>
      <p:sp>
        <p:nvSpPr>
          <p:cNvPr id="37" name="Text 35"/>
          <p:cNvSpPr txBox="1"/>
          <p:nvPr/>
        </p:nvSpPr>
        <p:spPr>
          <a:xfrm>
            <a:off x="6967728" y="3877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source; AI summaries/digest</a:t>
            </a:r>
            <a:endParaRPr lang="en-US" sz="780" dirty="0"/>
          </a:p>
        </p:txBody>
      </p:sp>
      <p:sp>
        <p:nvSpPr>
          <p:cNvPr id="38" name="Text 36"/>
          <p:cNvSpPr txBox="1"/>
          <p:nvPr/>
        </p:nvSpPr>
        <p:spPr>
          <a:xfrm>
            <a:off x="10122408" y="3877056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Freemium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85216" y="4325112"/>
            <a:ext cx="10561320" cy="493776"/>
          </a:xfrm>
          <a:prstGeom prst="roundRect">
            <a:avLst>
              <a:gd name="adj" fmla="val 5556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443484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Tapestry</a:t>
            </a:r>
            <a:endParaRPr lang="en-US" sz="880" dirty="0"/>
          </a:p>
        </p:txBody>
      </p:sp>
      <p:sp>
        <p:nvSpPr>
          <p:cNvPr id="41" name="Text 39"/>
          <p:cNvSpPr txBox="1"/>
          <p:nvPr/>
        </p:nvSpPr>
        <p:spPr>
          <a:xfrm>
            <a:off x="1984248" y="4434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chronological timeline</a:t>
            </a:r>
            <a:endParaRPr lang="en-US" sz="780" dirty="0"/>
          </a:p>
        </p:txBody>
      </p:sp>
      <p:sp>
        <p:nvSpPr>
          <p:cNvPr id="42" name="Text 40"/>
          <p:cNvSpPr txBox="1"/>
          <p:nvPr/>
        </p:nvSpPr>
        <p:spPr>
          <a:xfrm>
            <a:off x="3995928" y="443484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RSS, Bluesky, Mastodon, YouTube</a:t>
            </a:r>
            <a:endParaRPr lang="en-US" sz="780" dirty="0"/>
          </a:p>
        </p:txBody>
      </p:sp>
      <p:sp>
        <p:nvSpPr>
          <p:cNvPr id="43" name="Text 41"/>
          <p:cNvSpPr txBox="1"/>
          <p:nvPr/>
        </p:nvSpPr>
        <p:spPr>
          <a:xfrm>
            <a:off x="6967728" y="443484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algorithm; private; extensible</a:t>
            </a:r>
            <a:endParaRPr lang="en-US" sz="780" dirty="0"/>
          </a:p>
        </p:txBody>
      </p:sp>
      <p:sp>
        <p:nvSpPr>
          <p:cNvPr id="44" name="Text 42"/>
          <p:cNvSpPr txBox="1"/>
          <p:nvPr/>
        </p:nvSpPr>
        <p:spPr>
          <a:xfrm>
            <a:off x="10122408" y="443484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$20/yr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85216" y="4882896"/>
            <a:ext cx="1056132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8368" y="4992624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Reeder</a:t>
            </a:r>
            <a:endParaRPr lang="en-US" sz="880" dirty="0"/>
          </a:p>
        </p:txBody>
      </p:sp>
      <p:sp>
        <p:nvSpPr>
          <p:cNvPr id="47" name="Text 45"/>
          <p:cNvSpPr txBox="1"/>
          <p:nvPr/>
        </p:nvSpPr>
        <p:spPr>
          <a:xfrm>
            <a:off x="1984248" y="49926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reading timeline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3995928" y="499262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RSS, video, podcast, social</a:t>
            </a:r>
            <a:endParaRPr lang="en-US" sz="780" dirty="0"/>
          </a:p>
        </p:txBody>
      </p:sp>
      <p:sp>
        <p:nvSpPr>
          <p:cNvPr id="49" name="Text 47"/>
          <p:cNvSpPr txBox="1"/>
          <p:nvPr/>
        </p:nvSpPr>
        <p:spPr>
          <a:xfrm>
            <a:off x="6967728" y="4992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unread pressure; local/privacy</a:t>
            </a:r>
            <a:endParaRPr lang="en-US" sz="780" dirty="0"/>
          </a:p>
        </p:txBody>
      </p:sp>
      <p:sp>
        <p:nvSpPr>
          <p:cNvPr id="50" name="Text 48"/>
          <p:cNvSpPr txBox="1"/>
          <p:nvPr/>
        </p:nvSpPr>
        <p:spPr>
          <a:xfrm>
            <a:off x="10122408" y="499262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$10/yr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585216" y="5440680"/>
            <a:ext cx="10561320" cy="493776"/>
          </a:xfrm>
          <a:prstGeom prst="roundRect">
            <a:avLst>
              <a:gd name="adj" fmla="val 5556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8368" y="555040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Feeeed</a:t>
            </a:r>
            <a:endParaRPr lang="en-US" sz="880" dirty="0"/>
          </a:p>
        </p:txBody>
      </p:sp>
      <p:sp>
        <p:nvSpPr>
          <p:cNvPr id="53" name="Text 51"/>
          <p:cNvSpPr txBox="1"/>
          <p:nvPr/>
        </p:nvSpPr>
        <p:spPr>
          <a:xfrm>
            <a:off x="1984248" y="55504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Build-your-own anti-doom feed</a:t>
            </a:r>
            <a:endParaRPr lang="en-US" sz="780" dirty="0"/>
          </a:p>
        </p:txBody>
      </p:sp>
      <p:sp>
        <p:nvSpPr>
          <p:cNvPr id="54" name="Text 52"/>
          <p:cNvSpPr txBox="1"/>
          <p:nvPr/>
        </p:nvSpPr>
        <p:spPr>
          <a:xfrm>
            <a:off x="3995928" y="555040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RSS, YouTube, Reddit, email</a:t>
            </a:r>
            <a:endParaRPr lang="en-US" sz="780" dirty="0"/>
          </a:p>
        </p:txBody>
      </p:sp>
      <p:sp>
        <p:nvSpPr>
          <p:cNvPr id="55" name="Text 53"/>
          <p:cNvSpPr txBox="1"/>
          <p:nvPr/>
        </p:nvSpPr>
        <p:spPr>
          <a:xfrm>
            <a:off x="6967728" y="55504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Private; reminders + life cards</a:t>
            </a:r>
            <a:endParaRPr lang="en-US" sz="780" dirty="0"/>
          </a:p>
        </p:txBody>
      </p:sp>
      <p:sp>
        <p:nvSpPr>
          <p:cNvPr id="56" name="Text 54"/>
          <p:cNvSpPr txBox="1"/>
          <p:nvPr/>
        </p:nvSpPr>
        <p:spPr>
          <a:xfrm>
            <a:off x="10122408" y="555040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</a:t>
            </a:r>
            <a:endParaRPr lang="en-US" sz="780" dirty="0"/>
          </a:p>
        </p:txBody>
      </p:sp>
      <p:sp>
        <p:nvSpPr>
          <p:cNvPr id="57" name="Text 55"/>
          <p:cNvSpPr txBox="1"/>
          <p:nvPr/>
        </p:nvSpPr>
        <p:spPr>
          <a:xfrm>
            <a:off x="612648" y="6163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 current bundles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2057400" y="6108192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 ≈ finite digest  |  NewsBlur ≈ trainable ranking + briefing  |  Inoreader ≈ rules + automation  |  Folo ≈ AI reader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UNIVERSE · 2 OF 2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and near-direct competitors: reading, news and daily briefs.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2529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670" dirty="0"/>
          </a:p>
        </p:txBody>
      </p:sp>
      <p:sp>
        <p:nvSpPr>
          <p:cNvPr id="5" name="Text 3"/>
          <p:cNvSpPr txBox="1"/>
          <p:nvPr/>
        </p:nvSpPr>
        <p:spPr>
          <a:xfrm>
            <a:off x="2167128" y="122529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JOB</a:t>
            </a:r>
            <a:endParaRPr lang="en-US" sz="670" dirty="0"/>
          </a:p>
        </p:txBody>
      </p:sp>
      <p:sp>
        <p:nvSpPr>
          <p:cNvPr id="6" name="Text 4"/>
          <p:cNvSpPr txBox="1"/>
          <p:nvPr/>
        </p:nvSpPr>
        <p:spPr>
          <a:xfrm>
            <a:off x="4178808" y="122529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670" dirty="0"/>
          </a:p>
        </p:txBody>
      </p:sp>
      <p:sp>
        <p:nvSpPr>
          <p:cNvPr id="7" name="Text 5"/>
          <p:cNvSpPr txBox="1"/>
          <p:nvPr/>
        </p:nvSpPr>
        <p:spPr>
          <a:xfrm>
            <a:off x="6922008" y="122529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OWNS</a:t>
            </a:r>
            <a:endParaRPr lang="en-US" sz="670" dirty="0"/>
          </a:p>
        </p:txBody>
      </p:sp>
      <p:sp>
        <p:nvSpPr>
          <p:cNvPr id="8" name="Text 6"/>
          <p:cNvSpPr txBox="1"/>
          <p:nvPr/>
        </p:nvSpPr>
        <p:spPr>
          <a:xfrm>
            <a:off x="9957816" y="1225296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SIGNAL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585216" y="1508760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59562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Readwise Reader</a:t>
            </a:r>
            <a:endParaRPr lang="en-US" sz="830" dirty="0"/>
          </a:p>
        </p:txBody>
      </p:sp>
      <p:sp>
        <p:nvSpPr>
          <p:cNvPr id="11" name="Text 9"/>
          <p:cNvSpPr txBox="1"/>
          <p:nvPr/>
        </p:nvSpPr>
        <p:spPr>
          <a:xfrm>
            <a:off x="2167128" y="159562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operating system</a:t>
            </a:r>
            <a:endParaRPr lang="en-US" sz="730" dirty="0"/>
          </a:p>
        </p:txBody>
      </p:sp>
      <p:sp>
        <p:nvSpPr>
          <p:cNvPr id="12" name="Text 10"/>
          <p:cNvSpPr txBox="1"/>
          <p:nvPr/>
        </p:nvSpPr>
        <p:spPr>
          <a:xfrm>
            <a:off x="4178808" y="1595628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Feeds, email, saved items, files</a:t>
            </a:r>
            <a:endParaRPr lang="en-US" sz="730" dirty="0"/>
          </a:p>
        </p:txBody>
      </p:sp>
      <p:sp>
        <p:nvSpPr>
          <p:cNvPr id="13" name="Text 11"/>
          <p:cNvSpPr txBox="1"/>
          <p:nvPr/>
        </p:nvSpPr>
        <p:spPr>
          <a:xfrm>
            <a:off x="6922008" y="159562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Capture, full text, highlights, AI</a:t>
            </a:r>
            <a:endParaRPr lang="en-US" sz="730" dirty="0"/>
          </a:p>
        </p:txBody>
      </p:sp>
      <p:sp>
        <p:nvSpPr>
          <p:cNvPr id="14" name="Text 12"/>
          <p:cNvSpPr txBox="1"/>
          <p:nvPr/>
        </p:nvSpPr>
        <p:spPr>
          <a:xfrm>
            <a:off x="9957816" y="159562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$120/yr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5216" y="1984248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07111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</a:t>
            </a:r>
            <a:endParaRPr lang="en-US" sz="830" dirty="0"/>
          </a:p>
        </p:txBody>
      </p:sp>
      <p:sp>
        <p:nvSpPr>
          <p:cNvPr id="17" name="Text 15"/>
          <p:cNvSpPr txBox="1"/>
          <p:nvPr/>
        </p:nvSpPr>
        <p:spPr>
          <a:xfrm>
            <a:off x="2167128" y="207111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later + subscriptions</a:t>
            </a:r>
            <a:endParaRPr lang="en-US" sz="730" dirty="0"/>
          </a:p>
        </p:txBody>
      </p:sp>
      <p:sp>
        <p:nvSpPr>
          <p:cNvPr id="18" name="Text 16"/>
          <p:cNvSpPr txBox="1"/>
          <p:nvPr/>
        </p:nvSpPr>
        <p:spPr>
          <a:xfrm>
            <a:off x="4178808" y="207111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links, newsletters, RSS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6922008" y="2071116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Polished reading + AI co-reader</a:t>
            </a:r>
            <a:endParaRPr lang="en-US" sz="730" dirty="0"/>
          </a:p>
        </p:txBody>
      </p:sp>
      <p:sp>
        <p:nvSpPr>
          <p:cNvPr id="20" name="Text 18"/>
          <p:cNvSpPr txBox="1"/>
          <p:nvPr/>
        </p:nvSpPr>
        <p:spPr>
          <a:xfrm>
            <a:off x="9957816" y="2071116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$60–80/yr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85216" y="2459736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254660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Instapaper</a:t>
            </a:r>
            <a:endParaRPr lang="en-US" sz="830" dirty="0"/>
          </a:p>
        </p:txBody>
      </p:sp>
      <p:sp>
        <p:nvSpPr>
          <p:cNvPr id="23" name="Text 21"/>
          <p:cNvSpPr txBox="1"/>
          <p:nvPr/>
        </p:nvSpPr>
        <p:spPr>
          <a:xfrm>
            <a:off x="2167128" y="25466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later + Kindle digest</a:t>
            </a:r>
            <a:endParaRPr lang="en-US" sz="73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254660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User-saved articles</a:t>
            </a:r>
            <a:endParaRPr lang="en-US" sz="730" dirty="0"/>
          </a:p>
        </p:txBody>
      </p:sp>
      <p:sp>
        <p:nvSpPr>
          <p:cNvPr id="25" name="Text 23"/>
          <p:cNvSpPr txBox="1"/>
          <p:nvPr/>
        </p:nvSpPr>
        <p:spPr>
          <a:xfrm>
            <a:off x="6922008" y="2546604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Daily/weekly Kindle delivery</a:t>
            </a:r>
            <a:endParaRPr lang="en-US" sz="730" dirty="0"/>
          </a:p>
        </p:txBody>
      </p:sp>
      <p:sp>
        <p:nvSpPr>
          <p:cNvPr id="26" name="Text 24"/>
          <p:cNvSpPr txBox="1"/>
          <p:nvPr/>
        </p:nvSpPr>
        <p:spPr>
          <a:xfrm>
            <a:off x="9957816" y="254660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$60/yr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585216" y="2935224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0220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KTool</a:t>
            </a:r>
            <a:endParaRPr lang="en-US" sz="830" dirty="0"/>
          </a:p>
        </p:txBody>
      </p:sp>
      <p:sp>
        <p:nvSpPr>
          <p:cNvPr id="29" name="Text 27"/>
          <p:cNvSpPr txBox="1"/>
          <p:nvPr/>
        </p:nvSpPr>
        <p:spPr>
          <a:xfrm>
            <a:off x="2167128" y="30220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content to Kindle</a:t>
            </a:r>
            <a:endParaRPr lang="en-US" sz="73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30220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Articles, newsletters, documents</a:t>
            </a:r>
            <a:endParaRPr lang="en-US" sz="730" dirty="0"/>
          </a:p>
        </p:txBody>
      </p:sp>
      <p:sp>
        <p:nvSpPr>
          <p:cNvPr id="31" name="Text 29"/>
          <p:cNvSpPr txBox="1"/>
          <p:nvPr/>
        </p:nvSpPr>
        <p:spPr>
          <a:xfrm>
            <a:off x="6922008" y="3022092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Digest/magazine conversion</a:t>
            </a:r>
            <a:endParaRPr lang="en-US" sz="730" dirty="0"/>
          </a:p>
        </p:txBody>
      </p:sp>
      <p:sp>
        <p:nvSpPr>
          <p:cNvPr id="32" name="Text 30"/>
          <p:cNvSpPr txBox="1"/>
          <p:nvPr/>
        </p:nvSpPr>
        <p:spPr>
          <a:xfrm>
            <a:off x="9957816" y="302209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$48/yr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585216" y="3410712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349758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Meco</a:t>
            </a:r>
            <a:endParaRPr lang="en-US" sz="830" dirty="0"/>
          </a:p>
        </p:txBody>
      </p:sp>
      <p:sp>
        <p:nvSpPr>
          <p:cNvPr id="35" name="Text 33"/>
          <p:cNvSpPr txBox="1"/>
          <p:nvPr/>
        </p:nvSpPr>
        <p:spPr>
          <a:xfrm>
            <a:off x="2167128" y="349758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Newsletter reading hub</a:t>
            </a:r>
            <a:endParaRPr lang="en-US" sz="730" dirty="0"/>
          </a:p>
        </p:txBody>
      </p:sp>
      <p:sp>
        <p:nvSpPr>
          <p:cNvPr id="36" name="Text 34"/>
          <p:cNvSpPr txBox="1"/>
          <p:nvPr/>
        </p:nvSpPr>
        <p:spPr>
          <a:xfrm>
            <a:off x="4178808" y="349758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Gmail, Outlook, Meco inbox</a:t>
            </a:r>
            <a:endParaRPr lang="en-US" sz="730" dirty="0"/>
          </a:p>
        </p:txBody>
      </p:sp>
      <p:sp>
        <p:nvSpPr>
          <p:cNvPr id="37" name="Text 35"/>
          <p:cNvSpPr txBox="1"/>
          <p:nvPr/>
        </p:nvSpPr>
        <p:spPr>
          <a:xfrm>
            <a:off x="6922008" y="3497580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summaries + daily audio roundup</a:t>
            </a:r>
            <a:endParaRPr lang="en-US" sz="730" dirty="0"/>
          </a:p>
        </p:txBody>
      </p:sp>
      <p:sp>
        <p:nvSpPr>
          <p:cNvPr id="38" name="Text 36"/>
          <p:cNvSpPr txBox="1"/>
          <p:nvPr/>
        </p:nvSpPr>
        <p:spPr>
          <a:xfrm>
            <a:off x="9957816" y="349758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$40/yr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585216" y="3886200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397306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</a:t>
            </a:r>
            <a:endParaRPr lang="en-US" sz="830" dirty="0"/>
          </a:p>
        </p:txBody>
      </p:sp>
      <p:sp>
        <p:nvSpPr>
          <p:cNvPr id="41" name="Text 39"/>
          <p:cNvSpPr txBox="1"/>
          <p:nvPr/>
        </p:nvSpPr>
        <p:spPr>
          <a:xfrm>
            <a:off x="2167128" y="397306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AI-personalized news</a:t>
            </a:r>
            <a:endParaRPr lang="en-US" sz="730" dirty="0"/>
          </a:p>
        </p:txBody>
      </p:sp>
      <p:sp>
        <p:nvSpPr>
          <p:cNvPr id="42" name="Text 40"/>
          <p:cNvSpPr txBox="1"/>
          <p:nvPr/>
        </p:nvSpPr>
        <p:spPr>
          <a:xfrm>
            <a:off x="4178808" y="3973068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Multi-publisher news + podcasts</a:t>
            </a:r>
            <a:endParaRPr lang="en-US" sz="730" dirty="0"/>
          </a:p>
        </p:txBody>
      </p:sp>
      <p:sp>
        <p:nvSpPr>
          <p:cNvPr id="43" name="Text 41"/>
          <p:cNvSpPr txBox="1"/>
          <p:nvPr/>
        </p:nvSpPr>
        <p:spPr>
          <a:xfrm>
            <a:off x="6922008" y="397306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synthesis + perspectives</a:t>
            </a:r>
            <a:endParaRPr lang="en-US" sz="730" dirty="0"/>
          </a:p>
        </p:txBody>
      </p:sp>
      <p:sp>
        <p:nvSpPr>
          <p:cNvPr id="44" name="Text 42"/>
          <p:cNvSpPr txBox="1"/>
          <p:nvPr/>
        </p:nvSpPr>
        <p:spPr>
          <a:xfrm>
            <a:off x="9957816" y="397306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$30/yr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585216" y="4361688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8368" y="444855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Daily Brief</a:t>
            </a:r>
            <a:endParaRPr lang="en-US" sz="830" dirty="0"/>
          </a:p>
        </p:txBody>
      </p:sp>
      <p:sp>
        <p:nvSpPr>
          <p:cNvPr id="47" name="Text 45"/>
          <p:cNvSpPr txBox="1"/>
          <p:nvPr/>
        </p:nvSpPr>
        <p:spPr>
          <a:xfrm>
            <a:off x="2167128" y="444855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personal briefing</a:t>
            </a:r>
            <a:endParaRPr lang="en-US" sz="730" dirty="0"/>
          </a:p>
        </p:txBody>
      </p:sp>
      <p:sp>
        <p:nvSpPr>
          <p:cNvPr id="48" name="Text 46"/>
          <p:cNvSpPr txBox="1"/>
          <p:nvPr/>
        </p:nvSpPr>
        <p:spPr>
          <a:xfrm>
            <a:off x="4178808" y="444855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Gmail, Calendar, Gemini chats</a:t>
            </a:r>
            <a:endParaRPr lang="en-US" sz="730" dirty="0"/>
          </a:p>
        </p:txBody>
      </p:sp>
      <p:sp>
        <p:nvSpPr>
          <p:cNvPr id="49" name="Text 47"/>
          <p:cNvSpPr txBox="1"/>
          <p:nvPr/>
        </p:nvSpPr>
        <p:spPr>
          <a:xfrm>
            <a:off x="6922008" y="4448556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Context, actions, habit surface</a:t>
            </a:r>
            <a:endParaRPr lang="en-US" sz="730" dirty="0"/>
          </a:p>
        </p:txBody>
      </p:sp>
      <p:sp>
        <p:nvSpPr>
          <p:cNvPr id="50" name="Text 48"/>
          <p:cNvSpPr txBox="1"/>
          <p:nvPr/>
        </p:nvSpPr>
        <p:spPr>
          <a:xfrm>
            <a:off x="9957816" y="4448556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paid plan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585216" y="4837176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8368" y="492404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scheduled tasks</a:t>
            </a:r>
            <a:endParaRPr lang="en-US" sz="830" dirty="0"/>
          </a:p>
        </p:txBody>
      </p:sp>
      <p:sp>
        <p:nvSpPr>
          <p:cNvPr id="53" name="Text 51"/>
          <p:cNvSpPr txBox="1"/>
          <p:nvPr/>
        </p:nvSpPr>
        <p:spPr>
          <a:xfrm>
            <a:off x="2167128" y="492404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research + briefings</a:t>
            </a:r>
            <a:endParaRPr lang="en-US" sz="730" dirty="0"/>
          </a:p>
        </p:txBody>
      </p:sp>
      <p:sp>
        <p:nvSpPr>
          <p:cNvPr id="54" name="Text 52"/>
          <p:cNvSpPr txBox="1"/>
          <p:nvPr/>
        </p:nvSpPr>
        <p:spPr>
          <a:xfrm>
            <a:off x="4178808" y="492404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+ connected tools</a:t>
            </a:r>
            <a:endParaRPr lang="en-US" sz="730" dirty="0"/>
          </a:p>
        </p:txBody>
      </p:sp>
      <p:sp>
        <p:nvSpPr>
          <p:cNvPr id="55" name="Text 53"/>
          <p:cNvSpPr txBox="1"/>
          <p:nvPr/>
        </p:nvSpPr>
        <p:spPr>
          <a:xfrm>
            <a:off x="6922008" y="4924044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automation</a:t>
            </a:r>
            <a:endParaRPr lang="en-US" sz="730" dirty="0"/>
          </a:p>
        </p:txBody>
      </p:sp>
      <p:sp>
        <p:nvSpPr>
          <p:cNvPr id="56" name="Text 54"/>
          <p:cNvSpPr txBox="1"/>
          <p:nvPr/>
        </p:nvSpPr>
        <p:spPr>
          <a:xfrm>
            <a:off x="9957816" y="492404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plans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585216" y="5312664"/>
            <a:ext cx="1056132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58368" y="539953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Morning Brief</a:t>
            </a:r>
            <a:endParaRPr lang="en-US" sz="830" dirty="0"/>
          </a:p>
        </p:txBody>
      </p:sp>
      <p:sp>
        <p:nvSpPr>
          <p:cNvPr id="59" name="Text 57"/>
          <p:cNvSpPr txBox="1"/>
          <p:nvPr/>
        </p:nvSpPr>
        <p:spPr>
          <a:xfrm>
            <a:off x="2167128" y="539953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Workday attention brief</a:t>
            </a:r>
            <a:endParaRPr lang="en-US" sz="730" dirty="0"/>
          </a:p>
        </p:txBody>
      </p:sp>
      <p:sp>
        <p:nvSpPr>
          <p:cNvPr id="60" name="Text 58"/>
          <p:cNvSpPr txBox="1"/>
          <p:nvPr/>
        </p:nvSpPr>
        <p:spPr>
          <a:xfrm>
            <a:off x="4178808" y="539953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Calendar, email, Slack, tabs</a:t>
            </a:r>
            <a:endParaRPr lang="en-US" sz="730" dirty="0"/>
          </a:p>
        </p:txBody>
      </p:sp>
      <p:sp>
        <p:nvSpPr>
          <p:cNvPr id="61" name="Text 59"/>
          <p:cNvSpPr txBox="1"/>
          <p:nvPr/>
        </p:nvSpPr>
        <p:spPr>
          <a:xfrm>
            <a:off x="6922008" y="5399532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context + proactive surface</a:t>
            </a:r>
            <a:endParaRPr lang="en-US" sz="730" dirty="0"/>
          </a:p>
        </p:txBody>
      </p:sp>
      <p:sp>
        <p:nvSpPr>
          <p:cNvPr id="62" name="Text 60"/>
          <p:cNvSpPr txBox="1"/>
          <p:nvPr/>
        </p:nvSpPr>
        <p:spPr>
          <a:xfrm>
            <a:off x="9957816" y="539953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$100/mo tier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594360" y="5961888"/>
            <a:ext cx="10561320" cy="393192"/>
          </a:xfrm>
          <a:prstGeom prst="roundRect">
            <a:avLst>
              <a:gd name="adj" fmla="val 13953"/>
            </a:avLst>
          </a:prstGeom>
          <a:solidFill>
            <a:srgbClr val="F6C0AF"/>
          </a:solidFill>
          <a:ln w="12700">
            <a:solidFill>
              <a:srgbClr val="F6C0AF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77240" y="607161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strategically important overlap: Instapaper already does scheduled Kindle digests; Gemini/Claude/Dia already do proactive, context-aware briefs.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DIVE · SCHEDULED CONDENSATION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Digest-first products validate the behavior — and expose the gap.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73152" cy="4160520"/>
          </a:xfrm>
          <a:prstGeom prst="rect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Mailbrew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04495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 behavioral analogue. A scheduled email digest across multiple internet sources. Strong language around “unplugging from feeds,” clear demand proof, and a modest $59/year ceiling.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Gap: configuration is mostly sources + cadence, not a persistent editorial constitution or explicit attention allocation.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79976" y="141732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9976" y="1417320"/>
            <a:ext cx="73152" cy="416052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1144" y="1600200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NewsBlur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103120"/>
            <a:ext cx="304495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underrated technical competitor. Users train by author, tag, title and full text; Archive adds clustering, Ask AI and a Daily Briefing.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Gap: still an inbox/reader mental model. Training is preference-based, not goal/value-based; no hard edition budget.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17320"/>
            <a:ext cx="73152" cy="4160520"/>
          </a:xfrm>
          <a:prstGeom prst="rect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1600200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103120"/>
            <a:ext cx="304495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newsletters into a calmer reading space and now produces daily personalized audio roundups plus AI summaries.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Gap: newsletter-limited and optimized for skimming/listening, not cross-source editorial allocation.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" y="5788152"/>
            <a:ext cx="10945368" cy="475488"/>
          </a:xfrm>
          <a:prstGeom prst="roundRect">
            <a:avLst>
              <a:gd name="adj" fmla="val 13462"/>
            </a:avLst>
          </a:prstGeom>
          <a:solidFill>
            <a:srgbClr val="242725"/>
          </a:solidFill>
          <a:ln w="12700">
            <a:solidFill>
              <a:srgbClr val="24272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5934456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lesson  →  A fixed delivery ritual is valuable; “why this item earned one of today’s slots” is still unowned.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" y="63276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 </a:t>
            </a:r>
            <a:pPr indent="0" marL="0">
              <a:buNone/>
            </a:pPr>
            <a:r>
              <a:rPr lang="en-US" sz="650" u="sng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Mailbrew · NewsBlur · Meco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DIVE · FEEDS AND INTELLIGENCE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readers are feature-rich — but make the user do editorial work.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21792" y="1371600"/>
            <a:ext cx="3401568" cy="4526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27632"/>
            <a:ext cx="1325880" cy="274320"/>
          </a:xfrm>
          <a:prstGeom prst="roundRect">
            <a:avLst>
              <a:gd name="adj" fmla="val 46667"/>
            </a:avLst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677924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INOREADER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Rules, filters, monitoring feeds, newsletters, web feeds, AI summaries/reports, scheduled email digests.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PROVES</a:t>
            </a:r>
            <a:endParaRPr lang="en-US" sz="6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03904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Excellent ingestion + automation backend.</a:t>
            </a:r>
            <a:endParaRPr lang="en-US" sz="94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64608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Complex; weak opinion about a healthy finished edition.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370832" y="1371600"/>
            <a:ext cx="3401568" cy="4526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627632"/>
            <a:ext cx="1325880" cy="274320"/>
          </a:xfrm>
          <a:prstGeom prst="roundRect">
            <a:avLst>
              <a:gd name="adj" fmla="val 46667"/>
            </a:avLst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5152" y="1677924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FEEDLY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19456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feeds for topics, companies and trends; deep enterprise monitoring and newsletter automation.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5204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PROVES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803904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relevance models and B2B willingness to pay.</a:t>
            </a:r>
            <a:endParaRPr lang="en-US" sz="94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864608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economics; not a personal wellbeing product.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8119872" y="1371600"/>
            <a:ext cx="3401568" cy="4526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627632"/>
            <a:ext cx="1325880" cy="274320"/>
          </a:xfrm>
          <a:prstGeom prst="roundRect">
            <a:avLst>
              <a:gd name="adj" fmla="val 46667"/>
            </a:avLst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94192" y="1677924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FOLO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94560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AI RSS reader spanning multiple media types, summaries and digest workflows.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5204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PROVES</a:t>
            </a:r>
            <a:endParaRPr lang="en-US" sz="68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803904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UX + fast community adoption.</a:t>
            </a:r>
            <a:endParaRPr lang="en-US" sz="94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10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</a:t>
            </a:r>
            <a:endParaRPr lang="en-US" sz="68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64608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centered on a reader/feed; governance is mostly implicit.</a:t>
            </a:r>
            <a:endParaRPr lang="en-US" sz="94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0899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Their feature breadth is a warning: do not compete by rebuilding every connector and rule engine first.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DIVE · READING OBJECT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Kindle wedge is validated — and already monetized.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254203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19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INSTAPAPER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2402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or weekly Kindle digests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1216152" y="3182112"/>
            <a:ext cx="1353312" cy="274320"/>
          </a:xfrm>
          <a:prstGeom prst="roundRect">
            <a:avLst>
              <a:gd name="adj" fmla="val 46667"/>
            </a:avLst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9304" y="323240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$60/YEAR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38144" y="1481328"/>
            <a:ext cx="254203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2736" y="1719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KTOOL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22402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digests, magazines + newsletters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4032504" y="3182112"/>
            <a:ext cx="1353312" cy="274320"/>
          </a:xfrm>
          <a:prstGeom prst="roundRect">
            <a:avLst>
              <a:gd name="adj" fmla="val 46667"/>
            </a:avLst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05656" y="323240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$48/YEAR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254496" y="1481328"/>
            <a:ext cx="254203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9088" y="1719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READWISE READER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22402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documents to Kindle; e-ink modes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6848856" y="3182112"/>
            <a:ext cx="1353312" cy="274320"/>
          </a:xfrm>
          <a:prstGeom prst="roundRect">
            <a:avLst>
              <a:gd name="adj" fmla="val 46667"/>
            </a:avLst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22008" y="323240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$120/YEAR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070848" y="1481328"/>
            <a:ext cx="254203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0" y="1719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9299448" y="22402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Send to Kindle document transport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9665208" y="3182112"/>
            <a:ext cx="1353312" cy="274320"/>
          </a:xfrm>
          <a:prstGeom prst="roundRect">
            <a:avLst>
              <a:gd name="adj" fmla="val 46667"/>
            </a:avLst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38360" y="323240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differentiator cannot be “articles on Kindle.”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989320" y="4407408"/>
            <a:ext cx="91440" cy="91440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90488" y="4315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before conversion — the edition is composed, not merely bundled.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989320" y="4837176"/>
            <a:ext cx="91440" cy="91440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90488" y="4745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hard daily content/time budget — scarcity is a feature.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989320" y="5266944"/>
            <a:ext cx="91440" cy="91440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0488" y="51755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reasons and balance — every slot has an editorial rationale.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989320" y="5696712"/>
            <a:ext cx="91440" cy="91440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90488" y="56052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improves the constitution, not an opaque engagement score.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76656" y="6071616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 </a:t>
            </a:r>
            <a:pPr indent="0" marL="0">
              <a:buNone/>
            </a:pPr>
            <a:r>
              <a:rPr lang="en-US" sz="650" u="sng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Instapaper premium · KTool pricing · Readwise Reader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DIVE · USER-CONTROLLED FEEDS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Algorithm-free products prove control matters — but preserve the scroll.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5044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TAPESTRY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4173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private chronological timeline across RSS, Bluesky, Mastodon, Tumblr, YouTube and more.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1371600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BFD2E2"/>
          </a:solidFill>
          <a:ln w="12700">
            <a:solidFill>
              <a:srgbClr val="BFD2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94192" y="155448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mechanism: mute/muffle rules + source choice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58368" y="2542032"/>
            <a:ext cx="10863072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971800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022092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REEDER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94436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unified inbox for reading, watching and listening; removes unread counts and syncs timeline position.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898648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B9D9D3"/>
          </a:solidFill>
          <a:ln w="12700">
            <a:solidFill>
              <a:srgbClr val="B9D9D3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3081528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mechanism: chronology + filters + calm interface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58368" y="4069080"/>
            <a:ext cx="10863072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498848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4914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FEEEEED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4471416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feed curated by you” spanning RSS, YouTube, Reddit, email, reminders and personal cards.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4425696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6C0AF"/>
          </a:solidFill>
          <a:ln w="12700">
            <a:solidFill>
              <a:srgbClr val="F6C0A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94192" y="4608576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mechanism: user-built feed + private-by-design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58368" y="5888736"/>
            <a:ext cx="10863072" cy="393192"/>
          </a:xfrm>
          <a:prstGeom prst="roundRect">
            <a:avLst>
              <a:gd name="adj" fmla="val 13953"/>
            </a:avLst>
          </a:prstGeom>
          <a:solidFill>
            <a:srgbClr val="242725"/>
          </a:solidFill>
          <a:ln w="12700">
            <a:solidFill>
              <a:srgbClr val="24272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600760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Opportunity: preserve user sovereignty, then replace “keep scrolling” with “today is complete.”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DIVE · NEWS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news products solve synthesis, not the user’s wider information diet.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21792" y="1353312"/>
            <a:ext cx="3419856" cy="44348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73152" cy="4434840"/>
          </a:xfrm>
          <a:prstGeom prst="rect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36192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Particle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39112"/>
            <a:ext cx="3035808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Multi-source stories, opposite-side views, custom summary styles, questions, podcasts and daily digests. $15.3M raised; iOS + Android; 1.2K US App Store ratings at 4.8.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read: best current AI-news execution — but the unit is a news story, not a life goal or attention budget.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79976" y="1353312"/>
            <a:ext cx="3419856" cy="44348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9976" y="1353312"/>
            <a:ext cx="73152" cy="443484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1144" y="1536192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News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039112"/>
            <a:ext cx="3035808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reporting across 50,000+ outlets and exposes political bias, factuality, ownership and blindspots.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read: users will pay for epistemic tools and source comparison; its differentiator is perspective, not finite curation.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353312"/>
            <a:ext cx="3419856" cy="44348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53312"/>
            <a:ext cx="73152" cy="4434840"/>
          </a:xfrm>
          <a:prstGeom prst="rect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1536192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News / Flipboard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039112"/>
            <a:ext cx="3035808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Large-scale personalized aggregation, editorial packaging, publisher access and established distribution.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read: never compete on generic “personalized news.” Win on user governance, cross-domain scope and an intentionally bounded object.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6656" y="606247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 </a:t>
            </a:r>
            <a:pPr indent="0" marL="0">
              <a:buNone/>
            </a:pPr>
            <a:r>
              <a:rPr lang="en-US" sz="650" u="sng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Particle · Ground News · Apple News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SHIFT · PROACTIVE ASSISTANTS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AI assistants have crossed into the core job-to-be-done.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430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2026, daily briefing is becoming a platform primitive.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1143000" cy="274320"/>
          </a:xfrm>
          <a:prstGeom prst="roundRect">
            <a:avLst>
              <a:gd name="adj" fmla="val 46667"/>
            </a:avLst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5940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1728216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Brief curates Gmail, Calendar and chat context every morning; adapts to feedback and suggests actions.</a:t>
            </a:r>
            <a:endParaRPr lang="en-US" sz="112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7922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491472" y="1783080"/>
            <a:ext cx="137160" cy="137160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29216" y="1783080"/>
            <a:ext cx="137160" cy="137160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1783080"/>
            <a:ext cx="137160" cy="137160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04704" y="1783080"/>
            <a:ext cx="137160" cy="137160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42448" y="1783080"/>
            <a:ext cx="137160" cy="137160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715768"/>
            <a:ext cx="1143000" cy="274320"/>
          </a:xfrm>
          <a:prstGeom prst="roundRect">
            <a:avLst>
              <a:gd name="adj" fmla="val 46667"/>
            </a:avLst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766060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029968" y="2688336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tasks explicitly support daily briefings and recurring topic/competitor research across connected tools.</a:t>
            </a:r>
            <a:endParaRPr lang="en-US" sz="112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52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491472" y="2743200"/>
            <a:ext cx="137160" cy="137160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743200"/>
            <a:ext cx="137160" cy="137160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2743200"/>
            <a:ext cx="137160" cy="137160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04704" y="2743200"/>
            <a:ext cx="137160" cy="137160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42448" y="2743200"/>
            <a:ext cx="137160" cy="137160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75888"/>
            <a:ext cx="1143000" cy="274320"/>
          </a:xfrm>
          <a:prstGeom prst="roundRect">
            <a:avLst>
              <a:gd name="adj" fmla="val 46667"/>
            </a:avLst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726180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029968" y="3648456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workflows support source-backed daily work briefs and recurring automation around user context.</a:t>
            </a:r>
            <a:endParaRPr lang="en-US" sz="112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71246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491472" y="3703320"/>
            <a:ext cx="137160" cy="137160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29216" y="3703320"/>
            <a:ext cx="137160" cy="137160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66960" y="3703320"/>
            <a:ext cx="137160" cy="137160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04704" y="3703320"/>
            <a:ext cx="137160" cy="137160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42448" y="3703320"/>
            <a:ext cx="137160" cy="137160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4636008"/>
            <a:ext cx="1143000" cy="274320"/>
          </a:xfrm>
          <a:prstGeom prst="roundRect">
            <a:avLst>
              <a:gd name="adj" fmla="val 46667"/>
            </a:avLst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686300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029968" y="4608576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Brief draws from calendar, email, Slack and tabs; it appears in the browser’s default surface.</a:t>
            </a:r>
            <a:endParaRPr lang="en-US" sz="112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46725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MED–HIGH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491472" y="4663440"/>
            <a:ext cx="137160" cy="137160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29216" y="4663440"/>
            <a:ext cx="137160" cy="137160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66960" y="4663440"/>
            <a:ext cx="137160" cy="137160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04704" y="4663440"/>
            <a:ext cx="137160" cy="137160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42448" y="4663440"/>
            <a:ext cx="137160" cy="137160"/>
          </a:xfrm>
          <a:prstGeom prst="ellipse">
            <a:avLst/>
          </a:prstGeom>
          <a:solidFill>
            <a:srgbClr val="C9C4B8"/>
          </a:solidFill>
          <a:ln w="12700">
            <a:solidFill>
              <a:srgbClr val="C9C4B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5742432"/>
            <a:ext cx="10899648" cy="566928"/>
          </a:xfrm>
          <a:prstGeom prst="roundRect">
            <a:avLst>
              <a:gd name="adj" fmla="val 12903"/>
            </a:avLst>
          </a:prstGeom>
          <a:solidFill>
            <a:srgbClr val="E9C4BF"/>
          </a:solidFill>
          <a:ln w="12700">
            <a:solidFill>
              <a:srgbClr val="E9C4B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8680" y="5879592"/>
            <a:ext cx="10469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Survival rule: do what platform briefs structurally will not — let the user inspect and govern the editorial policy, cap the edition, preserve full-source reading, and route to e-ink/offline.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ADJACENT CATEGORY · TASTE NETWORKS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curation is not a side feature — it is the trust and serendipity layer.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01568" cy="400507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0992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7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ARE.NA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3172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Member-supported knowledge network with no advertising. 20,516 paying members and $125K MRR.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" y="3721608"/>
            <a:ext cx="2578608" cy="0"/>
          </a:xfrm>
          <a:prstGeom prst="line">
            <a:avLst/>
          </a:prstGeom>
          <a:noFill/>
          <a:ln w="10160">
            <a:solidFill>
              <a:srgbClr val="C9C4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4032504"/>
            <a:ext cx="2889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Proof: aligned incentives can be the business model.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01568" cy="400507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70992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SUBLIME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33172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Human-curated ideas and related material; $75/year premium with Kindle, X, Instagram and Readwise integrations.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800600" y="3721608"/>
            <a:ext cx="2578608" cy="0"/>
          </a:xfrm>
          <a:prstGeom prst="line">
            <a:avLst/>
          </a:prstGeom>
          <a:noFill/>
          <a:ln w="10160">
            <a:solidFill>
              <a:srgbClr val="C9C4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5152" y="4032504"/>
            <a:ext cx="2889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Proof: users pay for slower, idea-centric discovery.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401568" cy="400507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70992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E5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33172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inspiration network built around tastemakers, friends and collaborative collections; can hide AI content.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549640" y="3721608"/>
            <a:ext cx="2578608" cy="0"/>
          </a:xfrm>
          <a:prstGeom prst="line">
            <a:avLst/>
          </a:prstGeom>
          <a:noFill/>
          <a:ln w="10160">
            <a:solidFill>
              <a:srgbClr val="C9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4032504"/>
            <a:ext cx="2889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Proof: taste graphs can outperform topic graphs for discovery.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641848"/>
            <a:ext cx="10899648" cy="603504"/>
          </a:xfrm>
          <a:prstGeom prst="roundRect">
            <a:avLst>
              <a:gd name="adj" fmla="val 12121"/>
            </a:avLst>
          </a:prstGeom>
          <a:solidFill>
            <a:srgbClr val="C9DDCC"/>
          </a:solidFill>
          <a:ln w="12700">
            <a:solidFill>
              <a:srgbClr val="C9DDCC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582472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mechanic to test: “send to Charl’s paper” adds a high-weight candidate — not a notification, public post, like count or obligation.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MATRIX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currently combines all seven control primitives.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23444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PRIMITIVE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4315968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NewsBlur</a:t>
            </a:r>
            <a:endParaRPr lang="en-US" sz="720" dirty="0"/>
          </a:p>
        </p:txBody>
      </p:sp>
      <p:sp>
        <p:nvSpPr>
          <p:cNvPr id="7" name="Text 5"/>
          <p:cNvSpPr txBox="1"/>
          <p:nvPr/>
        </p:nvSpPr>
        <p:spPr>
          <a:xfrm>
            <a:off x="5385816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Inoreader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6455664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Readwise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7525512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Instapaper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9665208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735056" y="1143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40080" y="1600200"/>
            <a:ext cx="11164824" cy="49377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1746504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sources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712464" y="1764792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1764792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764792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22008" y="1764792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18704" y="1691640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88552" y="1691640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76104" y="17099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201400" y="1764792"/>
            <a:ext cx="155448" cy="155448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2130552"/>
            <a:ext cx="11164824" cy="493776"/>
          </a:xfrm>
          <a:prstGeom prst="roundRect">
            <a:avLst>
              <a:gd name="adj" fmla="val 3704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2276856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goals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3557016" y="22402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626864" y="22402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696712" y="22402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48856" y="2221992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36408" y="22402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88552" y="2221992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31552" y="2295144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01400" y="2295144"/>
            <a:ext cx="155448" cy="155448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2660904"/>
            <a:ext cx="11164824" cy="49377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280720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constitution</a:t>
            </a:r>
            <a:endParaRPr lang="en-US" sz="930" dirty="0"/>
          </a:p>
        </p:txBody>
      </p:sp>
      <p:sp>
        <p:nvSpPr>
          <p:cNvPr id="35" name="Text 33"/>
          <p:cNvSpPr txBox="1"/>
          <p:nvPr/>
        </p:nvSpPr>
        <p:spPr>
          <a:xfrm>
            <a:off x="3557016" y="2770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752344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79008" y="2752344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0" y="2770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836408" y="2770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906256" y="2770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058400" y="2752344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01400" y="2825496"/>
            <a:ext cx="155448" cy="155448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3191256"/>
            <a:ext cx="11164824" cy="493776"/>
          </a:xfrm>
          <a:prstGeom prst="roundRect">
            <a:avLst>
              <a:gd name="adj" fmla="val 3704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808" y="3337560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attention budget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3639312" y="3282696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26864" y="33009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696712" y="33009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766560" y="33009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836408" y="33009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906256" y="33009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976104" y="33009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201400" y="3355848"/>
            <a:ext cx="155448" cy="155448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" y="3721608"/>
            <a:ext cx="11164824" cy="49377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9808" y="3867912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stop state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3712464" y="3886200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9160" y="3813048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79008" y="3813048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66560" y="38313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991856" y="3886200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88552" y="3813048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131552" y="3886200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201400" y="3886200"/>
            <a:ext cx="155448" cy="155448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" y="4251960"/>
            <a:ext cx="11164824" cy="493776"/>
          </a:xfrm>
          <a:prstGeom prst="roundRect">
            <a:avLst>
              <a:gd name="adj" fmla="val 3704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9808" y="4398264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Full-source reading</a:t>
            </a:r>
            <a:endParaRPr lang="en-US" sz="930" dirty="0"/>
          </a:p>
        </p:txBody>
      </p:sp>
      <p:sp>
        <p:nvSpPr>
          <p:cNvPr id="65" name="Shape 63"/>
          <p:cNvSpPr/>
          <p:nvPr/>
        </p:nvSpPr>
        <p:spPr>
          <a:xfrm>
            <a:off x="3639312" y="4343400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82312" y="4416552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52160" y="4416552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22008" y="4416552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91856" y="4416552"/>
            <a:ext cx="155448" cy="155448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88552" y="4343400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976104" y="43616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1201400" y="4416552"/>
            <a:ext cx="155448" cy="155448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0080" y="4782312"/>
            <a:ext cx="11164824" cy="49377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49808" y="4928616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friend signal</a:t>
            </a:r>
            <a:endParaRPr lang="en-US" sz="930" dirty="0"/>
          </a:p>
        </p:txBody>
      </p:sp>
      <p:sp>
        <p:nvSpPr>
          <p:cNvPr id="75" name="Text 73"/>
          <p:cNvSpPr txBox="1"/>
          <p:nvPr/>
        </p:nvSpPr>
        <p:spPr>
          <a:xfrm>
            <a:off x="3557016" y="48920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09160" y="4873752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79008" y="4873752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766560" y="48920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7836408" y="48920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988552" y="4873752"/>
            <a:ext cx="155448" cy="155448"/>
          </a:xfrm>
          <a:prstGeom prst="ellipse">
            <a:avLst/>
          </a:prstGeom>
          <a:solidFill>
            <a:srgbClr val="F3F0E8"/>
          </a:solidFill>
          <a:ln w="19050">
            <a:solidFill>
              <a:srgbClr val="C68B2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976104" y="48920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1201400" y="4946904"/>
            <a:ext cx="155448" cy="155448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9808" y="5632704"/>
            <a:ext cx="128016" cy="128016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60120" y="5596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Strong/native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240280" y="5632704"/>
            <a:ext cx="128016" cy="128016"/>
          </a:xfrm>
          <a:prstGeom prst="ellipse">
            <a:avLst/>
          </a:prstGeom>
          <a:solidFill>
            <a:srgbClr val="F3F0E8"/>
          </a:solidFill>
          <a:ln w="16510">
            <a:solidFill>
              <a:srgbClr val="C68B2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2487168" y="55961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Partial/adjacent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882128" y="5532120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242725"/>
          </a:solidFill>
          <a:ln w="12700">
            <a:solidFill>
              <a:srgbClr val="242725">
                <a:alpha val="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028432" y="5669280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Whitespace = policy + budget + stop state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MAP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whitespace is “governed + finite,” not merely “personalized.”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43000" y="1353312"/>
            <a:ext cx="4823460" cy="2157984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6460" y="1353312"/>
            <a:ext cx="4823460" cy="2157984"/>
          </a:xfrm>
          <a:prstGeom prst="rect">
            <a:avLst/>
          </a:prstGeom>
          <a:solidFill>
            <a:srgbClr val="D6E7E3"/>
          </a:solidFill>
          <a:ln w="12700">
            <a:solidFill>
              <a:srgbClr val="D6E7E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511296"/>
            <a:ext cx="4823460" cy="2157984"/>
          </a:xfrm>
          <a:prstGeom prst="rect">
            <a:avLst/>
          </a:prstGeom>
          <a:solidFill>
            <a:srgbClr val="EEE7D7"/>
          </a:solidFill>
          <a:ln w="12700">
            <a:solidFill>
              <a:srgbClr val="EEE7D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66460" y="3511296"/>
            <a:ext cx="4823460" cy="2157984"/>
          </a:xfrm>
          <a:prstGeom prst="rect">
            <a:avLst/>
          </a:prstGeom>
          <a:solidFill>
            <a:srgbClr val="F3DDD6"/>
          </a:solidFill>
          <a:ln w="12700">
            <a:solidFill>
              <a:srgbClr val="F3DDD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66460" y="1353312"/>
            <a:ext cx="0" cy="0"/>
          </a:xfrm>
          <a:prstGeom prst="line">
            <a:avLst/>
          </a:prstGeom>
          <a:noFill/>
          <a:ln w="15240">
            <a:solidFill>
              <a:srgbClr val="1719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66460" y="1353312"/>
            <a:ext cx="0" cy="4315968"/>
          </a:xfrm>
          <a:prstGeom prst="line">
            <a:avLst/>
          </a:prstGeom>
          <a:noFill/>
          <a:ln w="15240">
            <a:solidFill>
              <a:srgbClr val="1719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511296"/>
            <a:ext cx="9646920" cy="0"/>
          </a:xfrm>
          <a:prstGeom prst="line">
            <a:avLst/>
          </a:prstGeom>
          <a:noFill/>
          <a:ln w="15240">
            <a:solidFill>
              <a:srgbClr val="1719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" y="1609344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10" kern="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/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spc="110" kern="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28016" y="4754880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/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spc="80" kern="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OPEN-ENDED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58521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spc="80" kern="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/ OPAQUE PERSONALIZATION</a:t>
            </a:r>
            <a:endParaRPr lang="en-US" sz="73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58521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spc="80" kern="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USER-GOVERNED EDITORIAL POLICY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1920240" y="1965960"/>
            <a:ext cx="164592" cy="164592"/>
          </a:xfrm>
          <a:prstGeom prst="ellipse">
            <a:avLst/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21408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/ Claude briefs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3794760" y="2743200"/>
            <a:ext cx="164592" cy="16459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95928" y="2679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903720" y="2651760"/>
            <a:ext cx="164592" cy="16459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04888" y="2587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8229600" y="2057400"/>
            <a:ext cx="164592" cy="16459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30768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Instapaper digest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1965960" y="4663440"/>
            <a:ext cx="164592" cy="16459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67128" y="45994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 News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3977640" y="4754880"/>
            <a:ext cx="164592" cy="16459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78808" y="4690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Folo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903720" y="4572000"/>
            <a:ext cx="164592" cy="16459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04888" y="4507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Tapestry / Reeder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8595360" y="4160520"/>
            <a:ext cx="164592" cy="164592"/>
          </a:xfrm>
          <a:prstGeom prst="ellipse">
            <a:avLst/>
          </a:prstGeom>
          <a:solidFill>
            <a:srgbClr val="437A52"/>
          </a:solidFill>
          <a:ln w="12700">
            <a:solidFill>
              <a:srgbClr val="437A5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96528" y="4096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Are.na / Sublime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8275320" y="1517904"/>
            <a:ext cx="2011680" cy="658368"/>
          </a:xfrm>
          <a:prstGeom prst="roundRect">
            <a:avLst>
              <a:gd name="adj" fmla="val 15278"/>
            </a:avLst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39912" y="166420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LANDSCAPE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willingness to pay clusters around $40–120/year.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94960" y="1298448"/>
            <a:ext cx="0" cy="4462272"/>
          </a:xfrm>
          <a:prstGeom prst="line">
            <a:avLst/>
          </a:prstGeom>
          <a:noFill/>
          <a:ln w="12700">
            <a:solidFill>
              <a:srgbClr val="E05A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1298448"/>
            <a:ext cx="0" cy="4462272"/>
          </a:xfrm>
          <a:prstGeom prst="line">
            <a:avLst/>
          </a:prstGeom>
          <a:noFill/>
          <a:ln w="12700">
            <a:solidFill>
              <a:srgbClr val="E05A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08576" y="1060704"/>
            <a:ext cx="2395728" cy="274320"/>
          </a:xfrm>
          <a:prstGeom prst="roundRect">
            <a:avLst>
              <a:gd name="adj" fmla="val 46667"/>
            </a:avLst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81728" y="1110996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LAUNCH BAND · $40–80/YR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40817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Reeder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2788920" y="1495044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0994" y="1435608"/>
            <a:ext cx="118872" cy="11887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53344" y="14081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</a:t>
            </a:r>
            <a:endParaRPr lang="en-US" sz="78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7190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Tapestry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2788920" y="1805940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32504" y="1746504"/>
            <a:ext cx="118872" cy="11887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53344" y="17190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78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0299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2788920" y="2116836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4014" y="2057400"/>
            <a:ext cx="118872" cy="11887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53344" y="2029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$30</a:t>
            </a:r>
            <a:endParaRPr lang="en-US" sz="78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234086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NewsBlur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2788920" y="2427732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2368296"/>
            <a:ext cx="118872" cy="11887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53344" y="23408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$36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65176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Meco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2788920" y="2738628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5524" y="2679192"/>
            <a:ext cx="118872" cy="11887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753344" y="26517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</a:t>
            </a:r>
            <a:endParaRPr lang="en-US" sz="78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29626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KTool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2788920" y="3049524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6732" y="2990088"/>
            <a:ext cx="118872" cy="11887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753344" y="29626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$48</a:t>
            </a:r>
            <a:endParaRPr lang="en-US" sz="78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327355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2788920" y="3360420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3393" y="3300984"/>
            <a:ext cx="118872" cy="11887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753344" y="32735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$59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358444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2788920" y="3671316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38544" y="3611880"/>
            <a:ext cx="118872" cy="11887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753344" y="3584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</a:t>
            </a:r>
            <a:endParaRPr lang="en-US" sz="78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389534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Instapaper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2788920" y="3982212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38544" y="3922776"/>
            <a:ext cx="118872" cy="118872"/>
          </a:xfrm>
          <a:prstGeom prst="ellipse">
            <a:avLst/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753344" y="38953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</a:t>
            </a:r>
            <a:endParaRPr lang="en-US" sz="78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420624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Are.na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2788920" y="4293108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90054" y="4233672"/>
            <a:ext cx="118872" cy="118872"/>
          </a:xfrm>
          <a:prstGeom prst="ellipse">
            <a:avLst/>
          </a:prstGeom>
          <a:solidFill>
            <a:srgbClr val="437A52"/>
          </a:solidFill>
          <a:ln w="12700">
            <a:solidFill>
              <a:srgbClr val="437A52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753344" y="42062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$70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731520" y="451713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Sublime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2788920" y="4604004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15809" y="4544568"/>
            <a:ext cx="118872" cy="118872"/>
          </a:xfrm>
          <a:prstGeom prst="ellipse">
            <a:avLst/>
          </a:prstGeom>
          <a:solidFill>
            <a:srgbClr val="437A52"/>
          </a:solidFill>
          <a:ln w="12700">
            <a:solidFill>
              <a:srgbClr val="437A52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753344" y="45171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$75</a:t>
            </a:r>
            <a:endParaRPr lang="en-US" sz="78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482803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Inoreader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2788920" y="4914900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93074" y="4855464"/>
            <a:ext cx="118872" cy="11887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753344" y="48280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$90</a:t>
            </a:r>
            <a:endParaRPr lang="en-US" sz="780" dirty="0"/>
          </a:p>
        </p:txBody>
      </p:sp>
      <p:sp>
        <p:nvSpPr>
          <p:cNvPr id="56" name="Text 54"/>
          <p:cNvSpPr txBox="1"/>
          <p:nvPr/>
        </p:nvSpPr>
        <p:spPr>
          <a:xfrm>
            <a:off x="731520" y="51389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NewsBlur Archive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2788920" y="5225796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79433" y="5166360"/>
            <a:ext cx="118872" cy="11887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753344" y="51389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$99</a:t>
            </a:r>
            <a:endParaRPr lang="en-US" sz="780" dirty="0"/>
          </a:p>
        </p:txBody>
      </p:sp>
      <p:sp>
        <p:nvSpPr>
          <p:cNvPr id="60" name="Text 58"/>
          <p:cNvSpPr txBox="1"/>
          <p:nvPr/>
        </p:nvSpPr>
        <p:spPr>
          <a:xfrm>
            <a:off x="731520" y="544982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Readwise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2788920" y="5536692"/>
            <a:ext cx="7818120" cy="0"/>
          </a:xfrm>
          <a:prstGeom prst="line">
            <a:avLst/>
          </a:prstGeom>
          <a:noFill/>
          <a:ln w="6985">
            <a:solidFill>
              <a:srgbClr val="C9C4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47604" y="5477256"/>
            <a:ext cx="118872" cy="11887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753344" y="54498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$120</a:t>
            </a:r>
            <a:endParaRPr lang="en-US" sz="780" dirty="0"/>
          </a:p>
        </p:txBody>
      </p:sp>
      <p:sp>
        <p:nvSpPr>
          <p:cNvPr id="64" name="Text 62"/>
          <p:cNvSpPr txBox="1"/>
          <p:nvPr/>
        </p:nvSpPr>
        <p:spPr>
          <a:xfrm>
            <a:off x="2560320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720" dirty="0"/>
          </a:p>
        </p:txBody>
      </p:sp>
      <p:sp>
        <p:nvSpPr>
          <p:cNvPr id="65" name="Text 63"/>
          <p:cNvSpPr txBox="1"/>
          <p:nvPr/>
        </p:nvSpPr>
        <p:spPr>
          <a:xfrm>
            <a:off x="3863340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720" dirty="0"/>
          </a:p>
        </p:txBody>
      </p:sp>
      <p:sp>
        <p:nvSpPr>
          <p:cNvPr id="66" name="Text 64"/>
          <p:cNvSpPr txBox="1"/>
          <p:nvPr/>
        </p:nvSpPr>
        <p:spPr>
          <a:xfrm>
            <a:off x="5166360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</a:t>
            </a:r>
            <a:endParaRPr lang="en-US" sz="720" dirty="0"/>
          </a:p>
        </p:txBody>
      </p:sp>
      <p:sp>
        <p:nvSpPr>
          <p:cNvPr id="67" name="Text 65"/>
          <p:cNvSpPr txBox="1"/>
          <p:nvPr/>
        </p:nvSpPr>
        <p:spPr>
          <a:xfrm>
            <a:off x="6469380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</a:t>
            </a:r>
            <a:endParaRPr lang="en-US" sz="720" dirty="0"/>
          </a:p>
        </p:txBody>
      </p:sp>
      <p:sp>
        <p:nvSpPr>
          <p:cNvPr id="68" name="Text 66"/>
          <p:cNvSpPr txBox="1"/>
          <p:nvPr/>
        </p:nvSpPr>
        <p:spPr>
          <a:xfrm>
            <a:off x="7772400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$80</a:t>
            </a:r>
            <a:endParaRPr lang="en-US" sz="720" dirty="0"/>
          </a:p>
        </p:txBody>
      </p:sp>
      <p:sp>
        <p:nvSpPr>
          <p:cNvPr id="69" name="Text 67"/>
          <p:cNvSpPr txBox="1"/>
          <p:nvPr/>
        </p:nvSpPr>
        <p:spPr>
          <a:xfrm>
            <a:off x="9075420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$100</a:t>
            </a:r>
            <a:endParaRPr lang="en-US" sz="720" dirty="0"/>
          </a:p>
        </p:txBody>
      </p:sp>
      <p:sp>
        <p:nvSpPr>
          <p:cNvPr id="70" name="Text 68"/>
          <p:cNvSpPr txBox="1"/>
          <p:nvPr/>
        </p:nvSpPr>
        <p:spPr>
          <a:xfrm>
            <a:off x="10378440" y="5824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$120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713232" y="6053328"/>
            <a:ext cx="10625328" cy="256032"/>
          </a:xfrm>
          <a:prstGeom prst="roundRect">
            <a:avLst>
              <a:gd name="adj" fmla="val 17857"/>
            </a:avLst>
          </a:prstGeom>
          <a:solidFill>
            <a:srgbClr val="242725"/>
          </a:solidFill>
          <a:ln w="12700">
            <a:solidFill>
              <a:srgbClr val="242725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14400" y="6117336"/>
            <a:ext cx="10222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hypothesis  →  $6–10/month, annual-first; charge for editorial value and calm, not connector count.</a:t>
            </a:r>
            <a:endParaRPr lang="en-US" sz="820" dirty="0"/>
          </a:p>
        </p:txBody>
      </p:sp>
      <p:sp>
        <p:nvSpPr>
          <p:cNvPr id="73" name="Text 71"/>
          <p:cNvSpPr txBox="1"/>
          <p:nvPr/>
        </p:nvSpPr>
        <p:spPr>
          <a:xfrm>
            <a:off x="749808" y="6345936"/>
            <a:ext cx="6858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annualized; representative public prices, Aug 2026. App-store/local pricing varies.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TRACTION SIGNALS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cohorts can support meaningful businesses — but love is not mass-market proof.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38144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18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Mailbrew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9456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60K+ users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249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validated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07408" y="1417320"/>
            <a:ext cx="3438144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8576" y="1618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7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Are.na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219456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20.5K payers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7249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$125K MRR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74736" y="1417320"/>
            <a:ext cx="3438144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5904" y="1618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E5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Tapestry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19456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3,369 backers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7249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$177.8K crowdfund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3438144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794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68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37083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$15.3M raised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9011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1.2K ratings · 4.8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07408" y="3593592"/>
            <a:ext cx="3438144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08576" y="3794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34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Omnivore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08576" y="437083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users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49011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Acquired; standalone ended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74736" y="3593592"/>
            <a:ext cx="3438144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3794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34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37083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launch buzz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49011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product ended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833872"/>
            <a:ext cx="10927080" cy="411480"/>
          </a:xfrm>
          <a:prstGeom prst="roundRect">
            <a:avLst>
              <a:gd name="adj" fmla="val 13333"/>
            </a:avLst>
          </a:prstGeom>
          <a:solidFill>
            <a:srgbClr val="242725"/>
          </a:solidFill>
          <a:ln w="12700">
            <a:solidFill>
              <a:srgbClr val="24272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595274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case: a durable, high-retention niche. Upside case requires proving behavior substitution — users actually stop opening feeds.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EVIDENCE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graveyard is a strategic asset: three failure modes to avoid.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3419856" cy="4480560"/>
          </a:xfrm>
          <a:prstGeom prst="roundRect">
            <a:avLst>
              <a:gd name="adj" fmla="val 3209"/>
            </a:avLst>
          </a:prstGeom>
          <a:solidFill>
            <a:srgbClr val="EAE7D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007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34086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Excellent AI-personalized news was not enough.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9300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founders said the opportunity was not large enough for continued investment; Yahoo acquired the technology, not the standalone app.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96112" y="4901184"/>
            <a:ext cx="2907792" cy="621792"/>
          </a:xfrm>
          <a:prstGeom prst="roundRect">
            <a:avLst>
              <a:gd name="adj" fmla="val 11765"/>
            </a:avLst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50749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pitch “better AI news.”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98264" y="1389888"/>
            <a:ext cx="3419856" cy="4480560"/>
          </a:xfrm>
          <a:prstGeom prst="roundRect">
            <a:avLst>
              <a:gd name="adj" fmla="val 3209"/>
            </a:avLst>
          </a:prstGeom>
          <a:solidFill>
            <a:srgbClr val="EAE7D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1144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5111496" y="17007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POCKET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34086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and brand did not guarantee permanence.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349300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Mozilla shut Pocket in July 2025 to focus elsewhere, despite its iconic read-later position.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654296" y="4901184"/>
            <a:ext cx="2907792" cy="621792"/>
          </a:xfrm>
          <a:prstGeom prst="roundRect">
            <a:avLst>
              <a:gd name="adj" fmla="val 11765"/>
            </a:avLst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37176" y="50749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data portability and direct revenue foundational.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156448" y="1389888"/>
            <a:ext cx="3419856" cy="4480560"/>
          </a:xfrm>
          <a:prstGeom prst="roundRect">
            <a:avLst>
              <a:gd name="adj" fmla="val 3209"/>
            </a:avLst>
          </a:prstGeom>
          <a:solidFill>
            <a:srgbClr val="EAE7D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39328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17007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OMNIVORE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34086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beloved free reader can become acquisition fuel.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430768" y="349300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joined ElevenLabs after reaching a reported 500K global users; the open-source code survived, the standalone service did not.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412480" y="4901184"/>
            <a:ext cx="2907792" cy="621792"/>
          </a:xfrm>
          <a:prstGeom prst="roundRect">
            <a:avLst>
              <a:gd name="adj" fmla="val 11765"/>
            </a:avLst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50749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utility alone is not a business model.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76656" y="6099048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 </a:t>
            </a:r>
            <a:pPr indent="0" marL="0">
              <a:buNone/>
            </a:pPr>
            <a:r>
              <a:rPr lang="en-US" sz="650" u="sng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Yahoo Artifact acquisition · Mozilla Pocket closure · ElevenLabs/Omnivore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 AND ECONOMICS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ingestion is the moat trap.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0879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08760"/>
            <a:ext cx="1417320" cy="274320"/>
          </a:xfrm>
          <a:prstGeom prst="roundRect">
            <a:avLst>
              <a:gd name="adj" fmla="val 46667"/>
            </a:avLst>
          </a:prstGeom>
          <a:solidFill>
            <a:srgbClr val="437A52"/>
          </a:solidFill>
          <a:ln w="12700">
            <a:solidFill>
              <a:srgbClr val="437A5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559052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 / SUBSTACK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5179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/ low friction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36592" y="1490472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MVP substrate; Substack exposes /feed.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066544"/>
            <a:ext cx="10908792" cy="603504"/>
          </a:xfrm>
          <a:prstGeom prst="roundRect">
            <a:avLst>
              <a:gd name="adj" fmla="val 6061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221992"/>
            <a:ext cx="1417320" cy="274320"/>
          </a:xfrm>
          <a:prstGeom prst="roundRect">
            <a:avLst>
              <a:gd name="adj" fmla="val 46667"/>
            </a:avLst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227228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2311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Quota-managed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2203704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metadata access; transcripts/content add complexity.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779776"/>
            <a:ext cx="1090879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2935224"/>
            <a:ext cx="1417320" cy="274320"/>
          </a:xfrm>
          <a:prstGeom prst="roundRect">
            <a:avLst>
              <a:gd name="adj" fmla="val 46667"/>
            </a:avLst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2985516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944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$0.005 per post read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2916936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 new posts = $50 before AI processing.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493008"/>
            <a:ext cx="10908792" cy="603504"/>
          </a:xfrm>
          <a:prstGeom prst="roundRect">
            <a:avLst>
              <a:gd name="adj" fmla="val 6061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648456"/>
            <a:ext cx="1417320" cy="274320"/>
          </a:xfrm>
          <a:prstGeom prst="roundRect">
            <a:avLst>
              <a:gd name="adj" fmla="val 46667"/>
            </a:avLst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369874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REDDIT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2514600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+ contract risk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3630168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use requires explicit written approval.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1090879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361688"/>
            <a:ext cx="1417320" cy="274320"/>
          </a:xfrm>
          <a:prstGeom prst="roundRect">
            <a:avLst>
              <a:gd name="adj" fmla="val 46667"/>
            </a:avLst>
          </a:prstGeom>
          <a:solidFill>
            <a:srgbClr val="B34337"/>
          </a:solidFill>
          <a:ln w="12700">
            <a:solidFill>
              <a:srgbClr val="B3433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4411980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43708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43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permission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36592" y="4343400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social reads available only to approved users.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4919472"/>
            <a:ext cx="10908792" cy="603504"/>
          </a:xfrm>
          <a:prstGeom prst="roundRect">
            <a:avLst>
              <a:gd name="adj" fmla="val 6061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5074920"/>
            <a:ext cx="1417320" cy="274320"/>
          </a:xfrm>
          <a:prstGeom prst="roundRect">
            <a:avLst>
              <a:gd name="adj" fmla="val 46667"/>
            </a:avLst>
          </a:prstGeom>
          <a:solidFill>
            <a:srgbClr val="C68B2C"/>
          </a:solidFill>
          <a:ln w="12700">
            <a:solidFill>
              <a:srgbClr val="C68B2C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9536" y="5125212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NEWSLETTERS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2514600" y="50840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8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Permissioned but messy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36592" y="5056632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content; parsing and account trust matter.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779008"/>
            <a:ext cx="10908792" cy="493776"/>
          </a:xfrm>
          <a:prstGeom prst="roundRect">
            <a:avLst>
              <a:gd name="adj" fmla="val 12963"/>
            </a:avLst>
          </a:prstGeom>
          <a:solidFill>
            <a:srgbClr val="242725"/>
          </a:solidFill>
          <a:ln w="12700">
            <a:solidFill>
              <a:srgbClr val="24272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" y="5925312"/>
            <a:ext cx="10460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boundary  →  Start with RSS, newsletters, YouTube metadata and saved URLs. Add social sources only after the core selection behavior is proven.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SYNTHESIS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defensible wedge has five non-negotiables.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80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constitution, not interests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80160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goals, values, quality preferences, exclusions and diversity requirements.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25880" y="1975104"/>
            <a:ext cx="9857232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221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hard attention budget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221992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Minutes, item count, topic mix and novelty constraints determine the edition’s size.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2916936"/>
            <a:ext cx="9857232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1638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explainable editorial ledger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163824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selection states why it won, what it displaced and how it satisfies the policy.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25880" y="3858768"/>
            <a:ext cx="9857232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1056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123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finite reading object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105656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daily edition that ends — ideally email + web + EPUB/Kindle from the start.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4800600"/>
            <a:ext cx="9857232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50474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5065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Trusted-human injection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5047488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Friends add weighted candidates without importing social graphs, virality or obligation.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5989320"/>
            <a:ext cx="10808208" cy="292608"/>
          </a:xfrm>
          <a:prstGeom prst="roundRect">
            <a:avLst>
              <a:gd name="adj" fmla="val 15625"/>
            </a:avLst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6071616"/>
            <a:ext cx="10442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sentence: “Your values decide what earns a place in today’s finite edition.”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MARKET ENTRY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MVP should test editorial delegation, not aggregation breadth.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29000" cy="42519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E05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0992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users · 14 days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0592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onboarding interview + constitution; RSS/newsletters/saved URLs; 8–15-item daily web/email edition.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4434840"/>
            <a:ext cx="2880360" cy="786384"/>
          </a:xfrm>
          <a:prstGeom prst="roundRect">
            <a:avLst>
              <a:gd name="adj" fmla="val 9302"/>
            </a:avLst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4690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replacement behavior.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407408" y="1371600"/>
            <a:ext cx="3429000" cy="42519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8576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87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0992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30–50 paying users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450592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EPUB/Kindle delivery, explanations, mix controls, “more/less like this” and one friend-send path.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81728" y="4434840"/>
            <a:ext cx="2880360" cy="786384"/>
          </a:xfrm>
          <a:prstGeom prst="roundRect">
            <a:avLst>
              <a:gd name="adj" fmla="val 9302"/>
            </a:avLst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4690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willingness to pay + retention.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174736" y="1371600"/>
            <a:ext cx="3429000" cy="42519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75904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2E5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170992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expansion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2450592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YouTube, source-health diagnostics, edition analytics and referrals. Delay restricted social APIs.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49056" y="4434840"/>
            <a:ext cx="2880360" cy="786384"/>
          </a:xfrm>
          <a:prstGeom prst="roundRect">
            <a:avLst>
              <a:gd name="adj" fmla="val 9302"/>
            </a:avLst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13648" y="4690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scalable acquisition.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587044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metric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1938528" y="5815584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Reduction in visits to the feeds the edition was intended to replace — not “articles opened.”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DILIGENCE PLAN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experiments can falsify the thesis quickly.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161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9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12161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9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21615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9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68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1216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spc="9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SIGNAL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640080" y="1536192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70078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REPLACEMENT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2130552" y="170078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edition reduce feed visits?</a:t>
            </a:r>
            <a:endParaRPr lang="en-US" sz="910" dirty="0"/>
          </a:p>
        </p:txBody>
      </p:sp>
      <p:sp>
        <p:nvSpPr>
          <p:cNvPr id="11" name="Text 9"/>
          <p:cNvSpPr txBox="1"/>
          <p:nvPr/>
        </p:nvSpPr>
        <p:spPr>
          <a:xfrm>
            <a:off x="5056632" y="1700784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device/self-report → 2-week delta</a:t>
            </a:r>
            <a:endParaRPr lang="en-US" sz="910" dirty="0"/>
          </a:p>
        </p:txBody>
      </p:sp>
      <p:sp>
        <p:nvSpPr>
          <p:cNvPr id="12" name="Text 10"/>
          <p:cNvSpPr txBox="1"/>
          <p:nvPr/>
        </p:nvSpPr>
        <p:spPr>
          <a:xfrm>
            <a:off x="8165592" y="1700784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≥25% reduction among retained users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640080" y="2615184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779776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VALUE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2130552" y="2779776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 constitution beat source/topic setup?</a:t>
            </a:r>
            <a:endParaRPr lang="en-US" sz="910" dirty="0"/>
          </a:p>
        </p:txBody>
      </p:sp>
      <p:sp>
        <p:nvSpPr>
          <p:cNvPr id="16" name="Text 14"/>
          <p:cNvSpPr txBox="1"/>
          <p:nvPr/>
        </p:nvSpPr>
        <p:spPr>
          <a:xfrm>
            <a:off x="5056632" y="2779776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Randomize onboarding: topics vs constitution</a:t>
            </a:r>
            <a:endParaRPr lang="en-US" sz="910" dirty="0"/>
          </a:p>
        </p:txBody>
      </p:sp>
      <p:sp>
        <p:nvSpPr>
          <p:cNvPr id="17" name="Text 15"/>
          <p:cNvSpPr txBox="1"/>
          <p:nvPr/>
        </p:nvSpPr>
        <p:spPr>
          <a:xfrm>
            <a:off x="8165592" y="2779776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day-14 use + fewer manual edits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858768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VALUE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2130552" y="385876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ending improve satisfaction?</a:t>
            </a:r>
            <a:endParaRPr lang="en-US" sz="910" dirty="0"/>
          </a:p>
        </p:txBody>
      </p:sp>
      <p:sp>
        <p:nvSpPr>
          <p:cNvPr id="21" name="Text 19"/>
          <p:cNvSpPr txBox="1"/>
          <p:nvPr/>
        </p:nvSpPr>
        <p:spPr>
          <a:xfrm>
            <a:off x="5056632" y="385876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10-item edition vs ranked endless list</a:t>
            </a:r>
            <a:endParaRPr lang="en-US" sz="91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385876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time, equal/higher “felt informed”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40080" y="4773168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EEEAE1"/>
          </a:solidFill>
          <a:ln w="12700">
            <a:solidFill>
              <a:srgbClr val="EEEAE1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93776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SIGNAL</a:t>
            </a:r>
            <a:endParaRPr lang="en-US" sz="830" dirty="0"/>
          </a:p>
        </p:txBody>
      </p:sp>
      <p:sp>
        <p:nvSpPr>
          <p:cNvPr id="25" name="Text 23"/>
          <p:cNvSpPr txBox="1"/>
          <p:nvPr/>
        </p:nvSpPr>
        <p:spPr>
          <a:xfrm>
            <a:off x="2130552" y="493776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friend-sent candidates increase delight?</a:t>
            </a:r>
            <a:endParaRPr lang="en-US" sz="910" dirty="0"/>
          </a:p>
        </p:txBody>
      </p:sp>
      <p:sp>
        <p:nvSpPr>
          <p:cNvPr id="26" name="Text 24"/>
          <p:cNvSpPr txBox="1"/>
          <p:nvPr/>
        </p:nvSpPr>
        <p:spPr>
          <a:xfrm>
            <a:off x="5056632" y="4937760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trusted sender per user</a:t>
            </a:r>
            <a:endParaRPr lang="en-US" sz="910" dirty="0"/>
          </a:p>
        </p:txBody>
      </p:sp>
      <p:sp>
        <p:nvSpPr>
          <p:cNvPr id="27" name="Text 25"/>
          <p:cNvSpPr txBox="1"/>
          <p:nvPr/>
        </p:nvSpPr>
        <p:spPr>
          <a:xfrm>
            <a:off x="8165592" y="493776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43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save/read rate without notification burden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40080" y="5980176"/>
            <a:ext cx="10927080" cy="274320"/>
          </a:xfrm>
          <a:prstGeom prst="roundRect">
            <a:avLst>
              <a:gd name="adj" fmla="val 16667"/>
            </a:avLst>
          </a:prstGeom>
          <a:solidFill>
            <a:srgbClr val="242725"/>
          </a:solidFill>
          <a:ln w="12700">
            <a:solidFill>
              <a:srgbClr val="24272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6053328"/>
            <a:ext cx="10469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Kill criterion: users like the output but do not change any underlying consumption habit.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MONITORING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broader watchlist: 28 products and product families.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057400" cy="443484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673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/ DIGEST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Mailbrew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822960" y="2916936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642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NewsBlur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822960" y="3410712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3136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Meco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22960" y="3904488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630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Instapaper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822960" y="4398264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41239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KTool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2862072" y="1417320"/>
            <a:ext cx="2057400" cy="443484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26664" y="1673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/ READERS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090672" y="2423160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26664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Inoreader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090672" y="2916936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26664" y="2642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Feedly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090672" y="3410712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26664" y="3136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Folo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090672" y="3904488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26664" y="3630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Tapestry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090672" y="4398264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26664" y="41239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Reeder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3090672" y="4892040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26664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Feeeed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5129784" y="1417320"/>
            <a:ext cx="2057400" cy="443484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94376" y="1673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/ PKM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358384" y="2423160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94376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Readwise Reader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358384" y="2916936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94376" y="2642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5358384" y="3410712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294376" y="3136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Sublime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5358384" y="3904488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94376" y="3630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Are.na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5358384" y="4398264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94376" y="41239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5358384" y="4892040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94376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Raindrop.io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7397496" y="1417320"/>
            <a:ext cx="2057400" cy="4434840"/>
          </a:xfrm>
          <a:prstGeom prst="roundRect">
            <a:avLst>
              <a:gd name="adj" fmla="val 4889"/>
            </a:avLst>
          </a:prstGeom>
          <a:solidFill>
            <a:srgbClr val="242725"/>
          </a:solidFill>
          <a:ln w="10160">
            <a:solidFill>
              <a:srgbClr val="24272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62088" y="1673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F6C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DISTRIBUTION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7626096" y="2423160"/>
            <a:ext cx="1600200" cy="0"/>
          </a:xfrm>
          <a:prstGeom prst="line">
            <a:avLst/>
          </a:prstGeom>
          <a:noFill/>
          <a:ln w="7620">
            <a:solidFill>
              <a:srgbClr val="4A4D4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62088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Daily Brief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7626096" y="2916936"/>
            <a:ext cx="1600200" cy="0"/>
          </a:xfrm>
          <a:prstGeom prst="line">
            <a:avLst/>
          </a:prstGeom>
          <a:noFill/>
          <a:ln w="7620">
            <a:solidFill>
              <a:srgbClr val="4A4D4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562088" y="2642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scheduled tasks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7626096" y="3410712"/>
            <a:ext cx="1600200" cy="0"/>
          </a:xfrm>
          <a:prstGeom prst="line">
            <a:avLst/>
          </a:prstGeom>
          <a:noFill/>
          <a:ln w="7620">
            <a:solidFill>
              <a:srgbClr val="4A4D4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562088" y="3136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 daily briefs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7626096" y="3904488"/>
            <a:ext cx="1600200" cy="0"/>
          </a:xfrm>
          <a:prstGeom prst="line">
            <a:avLst/>
          </a:prstGeom>
          <a:noFill/>
          <a:ln w="7620">
            <a:solidFill>
              <a:srgbClr val="4A4D4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562088" y="3630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Morning Brief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7626096" y="4398264"/>
            <a:ext cx="1600200" cy="0"/>
          </a:xfrm>
          <a:prstGeom prst="line">
            <a:avLst/>
          </a:prstGeom>
          <a:noFill/>
          <a:ln w="7620">
            <a:solidFill>
              <a:srgbClr val="4A4D4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562088" y="41239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Perplexity Discover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7626096" y="4892040"/>
            <a:ext cx="1600200" cy="0"/>
          </a:xfrm>
          <a:prstGeom prst="line">
            <a:avLst/>
          </a:prstGeom>
          <a:noFill/>
          <a:ln w="7620">
            <a:solidFill>
              <a:srgbClr val="4A4D4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62088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 News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9665208" y="1417320"/>
            <a:ext cx="2057400" cy="443484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829800" y="1673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WELLBEING / SUBSTITUTES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9893808" y="2423160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829800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sec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9893808" y="2916936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829800" y="2642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Opal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9893808" y="3410712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829800" y="3136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Freedom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9893808" y="3904488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829800" y="3630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ScreenZen</a:t>
            </a:r>
            <a:endParaRPr lang="en-US" sz="860" dirty="0"/>
          </a:p>
        </p:txBody>
      </p:sp>
      <p:sp>
        <p:nvSpPr>
          <p:cNvPr id="70" name="Shape 68"/>
          <p:cNvSpPr/>
          <p:nvPr/>
        </p:nvSpPr>
        <p:spPr>
          <a:xfrm>
            <a:off x="9893808" y="4398264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829800" y="41239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Unpluq</a:t>
            </a:r>
            <a:endParaRPr lang="en-US" sz="860" dirty="0"/>
          </a:p>
        </p:txBody>
      </p:sp>
      <p:sp>
        <p:nvSpPr>
          <p:cNvPr id="72" name="Shape 70"/>
          <p:cNvSpPr/>
          <p:nvPr/>
        </p:nvSpPr>
        <p:spPr>
          <a:xfrm>
            <a:off x="9893808" y="4892040"/>
            <a:ext cx="1600200" cy="0"/>
          </a:xfrm>
          <a:prstGeom prst="line">
            <a:avLst/>
          </a:prstGeom>
          <a:noFill/>
          <a:ln w="7620">
            <a:solidFill>
              <a:srgbClr val="C9C4B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829800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Minimalist Phone</a:t>
            </a:r>
            <a:endParaRPr lang="en-US" sz="86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6099048"/>
            <a:ext cx="10835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monthly for: launches · pricing · platform connectors · shutdowns/acquisitions · traction disclosures · daily-brief behavior · publisher deals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SOURCES · 1 OF 2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sources: competitors and pricing.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62456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258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Mailbrew — product, traction, pricing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9222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Tapestry — product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295144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585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Tapestry — Kickstarter results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761488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7249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Reeder — App Store listing / price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227832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19125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Feeeed — product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94176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65760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Inoreader — features and pricing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12394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Feedly Market Intelligence — pricing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626864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5902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NewsBlur — features and pricing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093208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505663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Readwise Reader — product and pricing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559552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5229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Matter — business model / pricing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1362456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3258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Instapaper — Premium and Kindle digests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828800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179222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KTool — pricing and digest features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295144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2585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Meco — product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2761488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27249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Meco PRO — pricing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3227832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319125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Particle — product, funding and Android launch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694176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365760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Particle — App Store pricing and ratings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160520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412394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Ground News — methodology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4626864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45902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Are.na — live member and revenue metrics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09360" y="5093208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505663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Sublime — pricing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5559552"/>
            <a:ext cx="73152" cy="73152"/>
          </a:xfrm>
          <a:prstGeom prst="ellipse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55229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Cosmos — product / pricing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94944" y="6144768"/>
            <a:ext cx="10835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i="1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Hyperlinks are clickable in PowerPoint. Prices are public US web/App Store prices observed 23 Aug 2026; taxes, location and platform may change them.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SOURCES · 2 OF 2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sources: market context, platforms and failure cases.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533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Reuters Institute Digital News Report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2938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Daily Brief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542032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50545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scheduled actions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0815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Cowork scheduled tasks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94176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6576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Docs — ChatGPT/Codex use cases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2336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 Morning Brief release note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846320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80974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 pricing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422392"/>
            <a:ext cx="73152" cy="73152"/>
          </a:xfrm>
          <a:prstGeom prst="ellipse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53858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Yahoo — Artifact acquisition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389888"/>
            <a:ext cx="73152" cy="7315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3533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Mozilla — Pocket closure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965960"/>
            <a:ext cx="73152" cy="7315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192938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ElevenLabs — Omnivore acquisition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542032"/>
            <a:ext cx="73152" cy="7315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50545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 API pricing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118104"/>
            <a:ext cx="73152" cy="7315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0815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Reddit Responsible Builder Policy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694176"/>
            <a:ext cx="73152" cy="7315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6576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Posts API permissions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270248"/>
            <a:ext cx="73152" cy="7315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2336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 Data API quota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846320"/>
            <a:ext cx="73152" cy="7315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480974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Substack RSS documentation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5422392"/>
            <a:ext cx="73152" cy="7315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53858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u="sng" dirty="0">
                <a:solidFill>
                  <a:srgbClr val="1719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Apple News App Store listing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5961888"/>
            <a:ext cx="10808208" cy="320040"/>
          </a:xfrm>
          <a:prstGeom prst="roundRect">
            <a:avLst>
              <a:gd name="adj" fmla="val 14286"/>
            </a:avLst>
          </a:prstGeom>
          <a:solidFill>
            <a:srgbClr val="E7E3DA"/>
          </a:solidFill>
          <a:ln w="12700">
            <a:solidFill>
              <a:srgbClr val="E7E3DA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6053328"/>
            <a:ext cx="10442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emphasis: primary/official sources for features, prices, policies and company metrics; secondary reporting used sparingly for context.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80" kern="0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AND CAVEATS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this deck.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E05A3F"/>
          </a:solidFill>
          <a:ln w="12700">
            <a:solidFill>
              <a:srgbClr val="E05A3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5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764792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76272"/>
            <a:ext cx="304495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and prosumer products that aggregate, filter, summarize, schedule, package or socially curate internet information; adjacent AI-assistant and wellbeing substitutes included where they compete for the same job.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79976" y="132588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9976" y="1325880"/>
            <a:ext cx="73152" cy="4480560"/>
          </a:xfrm>
          <a:prstGeom prst="rect">
            <a:avLst/>
          </a:prstGeom>
          <a:solidFill>
            <a:srgbClr val="187A73"/>
          </a:solidFill>
          <a:ln w="12700">
            <a:solidFill>
              <a:srgbClr val="187A73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1764792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176272"/>
            <a:ext cx="304495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and public prices were checked against official sources where available. Threat, “ownership” and whitespace judgments are strategic inference — they are not claims made by the companies.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9872" y="132588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9C4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325880"/>
            <a:ext cx="73152" cy="448056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1764792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176272"/>
            <a:ext cx="304495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Private-company revenue, retention and user counts are usually undisclosed. “All competitors” therefore means a structured, decision-useful universe, not a claim of exhaustive global enumeration.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" y="6025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719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refresh cadence: quarterly for the specialist landscape; monthly for AI assistants and platform API access.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46F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Curation Station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Intentional Internet — Competitive Landscape</dc:title>
  <dc:subject>Competitive landscape for a user-governed digital diet and finite daily edition</dc:subject>
  <dc:creator>OpenAI Codex</dc:creator>
  <cp:lastModifiedBy>OpenAI Codex</cp:lastModifiedBy>
  <cp:revision>1</cp:revision>
  <dcterms:created xsi:type="dcterms:W3CDTF">2026-08-23T17:43:38Z</dcterms:created>
  <dcterms:modified xsi:type="dcterms:W3CDTF">2026-08-23T17:43:38Z</dcterms:modified>
</cp:coreProperties>
</file>